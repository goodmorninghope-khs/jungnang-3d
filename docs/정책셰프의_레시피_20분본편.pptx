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video" Target="../media/media-13-2.mp4"/><Relationship Id="rId3" Type="http://schemas.microsoft.com/office/2007/relationships/media" Target="../media/media-13-2.mp4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714375"/>
            <a:ext cx="5010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중랑구 직원특강 · </a:t>
            </a:r>
            <a:pPr algn="l" indent="0" marL="0">
              <a:lnSpc>
                <a:spcPts val="2400"/>
              </a:lnSpc>
              <a:buNone/>
            </a:pPr>
            <a:r>
              <a:rPr lang="en-US" sz="1650" b="1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레시피</a:t>
            </a:r>
            <a:endParaRPr lang="en-US" sz="16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2125414"/>
            <a:ext cx="10572750" cy="189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커뮤니케이션에는</a:t>
            </a:r>
            <a:endParaRPr lang="en-US" sz="6900" dirty="0"/>
          </a:p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레시피가 있다</a:t>
            </a:r>
            <a:endParaRPr lang="en-US" sz="6900" dirty="0"/>
          </a:p>
        </p:txBody>
      </p:sp>
      <p:sp>
        <p:nvSpPr>
          <p:cNvPr id="4" name="Text 2"/>
          <p:cNvSpPr txBox="1"/>
          <p:nvPr/>
        </p:nvSpPr>
        <p:spPr>
          <a:xfrm>
            <a:off x="1333500" y="4227761"/>
            <a:ext cx="633397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정책을 알리는 행정에서, 경험을 디자인하는 행정으로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5495925"/>
            <a:ext cx="395019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972175"/>
            <a:ext cx="395019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정책보좌관(정책실장) </a:t>
            </a:r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76108" y="5695950"/>
            <a:ext cx="373484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NEXT STANDARD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448181" y="6000750"/>
            <a:ext cx="9627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2026. 10. 1.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6700" y="5869484"/>
            <a:ext cx="428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10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광주 송정역 골목, 떡갈비집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6117134"/>
            <a:ext cx="4286250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 그냥 </a:t>
            </a:r>
            <a:pPr algn="l" indent="0" marL="0">
              <a:lnSpc>
                <a:spcPts val="209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48300" y="552450"/>
            <a:ext cx="4778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135737" y="566738"/>
            <a:ext cx="15717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WHO IS THE CHEF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5295900" y="1028700"/>
            <a:ext cx="63436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때를 짓는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김현성</a:t>
            </a:r>
            <a:endParaRPr lang="en-US" sz="3750" dirty="0"/>
          </a:p>
        </p:txBody>
      </p:sp>
      <p:sp>
        <p:nvSpPr>
          <p:cNvPr id="7" name="Text 5"/>
          <p:cNvSpPr txBox="1"/>
          <p:nvPr/>
        </p:nvSpPr>
        <p:spPr>
          <a:xfrm>
            <a:off x="5295900" y="2314575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실학자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현장에서 답을 찾는다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295900" y="2628900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경험디자이너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새로운 연결, 다른 경험을 짓는다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27년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정책과 골목 현장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86868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올빼미버스를 만든 통화 데이터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5만 4천 명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함께 디지털 전환을 건넌 사장님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6868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1,547명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독립선언에 이름을 올린 사장님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505450" y="5951339"/>
            <a:ext cx="3272879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했다는 것으로, 하겠다는 것을 증거한다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1636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27년 레시피 노트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59037" y="528638"/>
            <a:ext cx="23526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EVIDENCE FROM THE FIELD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질문을 들고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골목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돌아다녔다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1999~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33400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광고인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47700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7700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대한민국광고대상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23900" y="5581650"/>
            <a:ext cx="10047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CAMPAIGN</a:t>
            </a:r>
            <a:endParaRPr lang="en-US" sz="830" dirty="0"/>
          </a:p>
        </p:txBody>
      </p:sp>
      <p:sp>
        <p:nvSpPr>
          <p:cNvPr id="10" name="Text 8"/>
          <p:cNvSpPr txBox="1"/>
          <p:nvPr/>
        </p:nvSpPr>
        <p:spPr>
          <a:xfrm>
            <a:off x="2136279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2009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136279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공공커뮤니케이션연구소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250579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1트윗 = 1원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50579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석 달, 600여 명, 800만 원. 문턱 낮은 나눔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2326779" y="5581650"/>
            <a:ext cx="11309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NUDGE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3739158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9158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최초·최연소 디지털보좌관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853458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853458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10만 명, 180일. 기본계획을 함께 썼다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3929658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 · COMMUNITY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5342037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2013.9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342037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456337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56337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 0건. 통화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532537" y="5429250"/>
            <a:ext cx="118392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INSIGHT</a:t>
            </a:r>
            <a:endParaRPr lang="en-US" sz="830" dirty="0"/>
          </a:p>
        </p:txBody>
      </p:sp>
      <p:sp>
        <p:nvSpPr>
          <p:cNvPr id="25" name="Text 23"/>
          <p:cNvSpPr txBox="1"/>
          <p:nvPr/>
        </p:nvSpPr>
        <p:spPr>
          <a:xfrm>
            <a:off x="6945064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945064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초대 소상공인디지털본부장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059364" y="2666107"/>
            <a:ext cx="1336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소담스퀘어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59364" y="31804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5만 4천 명. 가장 좋은 강사는 떡볶이집 사장님</a:t>
            </a:r>
            <a:endParaRPr lang="en-US" sz="980" dirty="0"/>
          </a:p>
        </p:txBody>
      </p:sp>
      <p:sp>
        <p:nvSpPr>
          <p:cNvPr id="29" name="Text 27"/>
          <p:cNvSpPr txBox="1"/>
          <p:nvPr/>
        </p:nvSpPr>
        <p:spPr>
          <a:xfrm>
            <a:off x="7135564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STORYTELLING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8547943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547943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광주경제진흥상생일자리재단 초대 대표이사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662243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62243" y="29518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1,547명. 공공배달 점유율 전국 평균의 4배 넘어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738443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ISSUE FIGHTING</a:t>
            </a:r>
            <a:endParaRPr lang="en-US" sz="830" dirty="0"/>
          </a:p>
        </p:txBody>
      </p:sp>
      <p:sp>
        <p:nvSpPr>
          <p:cNvPr id="35" name="Text 33"/>
          <p:cNvSpPr txBox="1"/>
          <p:nvPr/>
        </p:nvSpPr>
        <p:spPr>
          <a:xfrm>
            <a:off x="10150822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 —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150822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265122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265122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부려야 골목에 건넬 수 있다</a:t>
            </a:r>
            <a:endParaRPr lang="en-US" sz="980" dirty="0"/>
          </a:p>
        </p:txBody>
      </p:sp>
      <p:sp>
        <p:nvSpPr>
          <p:cNvPr id="39" name="Text 37"/>
          <p:cNvSpPr txBox="1"/>
          <p:nvPr/>
        </p:nvSpPr>
        <p:spPr>
          <a:xfrm>
            <a:off x="10341322" y="5581650"/>
            <a:ext cx="5969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 · AI</a:t>
            </a:r>
            <a:endParaRPr lang="en-US" sz="830" dirty="0"/>
          </a:p>
        </p:txBody>
      </p:sp>
      <p:sp>
        <p:nvSpPr>
          <p:cNvPr id="40" name="Text 38"/>
          <p:cNvSpPr txBox="1"/>
          <p:nvPr/>
        </p:nvSpPr>
        <p:spPr>
          <a:xfrm>
            <a:off x="809625" y="6200775"/>
            <a:ext cx="8227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징비록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822847" y="6174581"/>
            <a:ext cx="9167217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성공만 적지 않았다. 이름도 쓰임도 바뀐 디지털 시민시장실, 정치가 된 제돌이 방류, "우리는 성공했지만 실패했다"는 광주 — 실패도 레시피 노트에 적었다.</a:t>
            </a:r>
            <a:endParaRPr lang="en-US" sz="11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19175" y="885974"/>
            <a:ext cx="12708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spc="1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먼저, 질문 하나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1486049"/>
            <a:ext cx="5048250" cy="1401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남이 끓여준</a:t>
            </a:r>
            <a:endParaRPr lang="en-US" sz="4800" dirty="0"/>
          </a:p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라면이 더 맛있을까?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3154710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스프를 먼저 넣느냐, 면을 먼저 넣느냐?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840510"/>
            <a:ext cx="50482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화력일까, 물의 양일까, 넣는 순서일까.</a:t>
            </a:r>
            <a:endParaRPr lang="en-US" sz="158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4255740"/>
            <a:ext cx="504825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봉지, 같은 면인데 맛이 다른 이유는</a:t>
            </a:r>
            <a:endParaRPr lang="en-US" sz="158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있습니다.</a:t>
            </a:r>
            <a:endParaRPr lang="en-US" sz="1580" dirty="0"/>
          </a:p>
        </p:txBody>
      </p:sp>
      <p:sp>
        <p:nvSpPr>
          <p:cNvPr id="7" name="Text 5"/>
          <p:cNvSpPr txBox="1"/>
          <p:nvPr/>
        </p:nvSpPr>
        <p:spPr>
          <a:xfrm>
            <a:off x="1047750" y="5333851"/>
            <a:ext cx="1045964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무엇을(What)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493615" y="5333851"/>
            <a:ext cx="318328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장면에서, 어떻게(How) 경험하게 하는가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49657" y="5580875"/>
            <a:ext cx="2683983" cy="7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6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한강에서 먹는 그 라면!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476250"/>
            <a:ext cx="1033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그리고, 질문 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852612" y="490538"/>
            <a:ext cx="148798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GAP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33450"/>
            <a:ext cx="3771900" cy="883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우리는 열심히 알렸는데,</a:t>
            </a:r>
            <a:endParaRPr lang="en-US" sz="2850" dirty="0"/>
          </a:p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주민은 </a:t>
            </a:r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모를까요?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628650" y="2183309"/>
            <a:ext cx="99104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행정이 한 일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1976438" y="2140446"/>
            <a:ext cx="40019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≠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733377" y="2183309"/>
            <a:ext cx="132412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경험한 일</a:t>
            </a:r>
            <a:endParaRPr lang="en-US" sz="143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07196"/>
            <a:ext cx="3771900" cy="754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어젯밤 앱에서 겪은 경험을 들고 오늘 아침 구청 문을 엽니다. 비교 대상은 어제의 구청이 아니라 </a:t>
            </a:r>
            <a:pPr algn="l" indent="0" marL="0">
              <a:lnSpc>
                <a:spcPts val="1980"/>
              </a:lnSpc>
              <a:buNone/>
            </a:pPr>
            <a:r>
              <a:rPr lang="en-US" sz="1200" b="1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어젯밤의 앱</a:t>
            </a:r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28650" y="5705475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"전자정부 지수 세계 1위. 시스템은 1등인데,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시민의 삶도 1등인가?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628650" y="6219825"/>
            <a:ext cx="3429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김현성, 「디지털 징비록」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4610100" y="571500"/>
            <a:ext cx="304264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소비자가 올려놓은 기대 vs 행정이 건넨 경험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360396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민간 서비스 경험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10519023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행정 서비스 경험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2010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카카오톡 · 배달의민족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367463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2014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쿠팡 로켓배송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124825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2015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토스 간편송금 · 새벽배송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9882188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2016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넷플릭스 국내 서비스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610100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2020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비대면의 일상화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67463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⑥ 2022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ChatGPT 등장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124825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Ⓐ 2017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정부24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882188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Ⓑ 2021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국민비서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3977580"/>
            <a:ext cx="23424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벌어졌을까? — 격차의 네 가지 원인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10534204" y="4015680"/>
            <a:ext cx="10672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 「경험격차론」</a:t>
            </a:r>
            <a:endParaRPr lang="en-US" sz="830" dirty="0"/>
          </a:p>
        </p:txBody>
      </p:sp>
      <p:sp>
        <p:nvSpPr>
          <p:cNvPr id="24" name="Text 22"/>
          <p:cNvSpPr txBox="1"/>
          <p:nvPr/>
        </p:nvSpPr>
        <p:spPr>
          <a:xfrm>
            <a:off x="4743450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속도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소비자의 목소리로 매일 고치고, 행정은 형평성으로 신중하게 움직입니다.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500813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목표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00813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기업은 고객의 만족을, 행정은 공공의 가치인 공정성·책임성을 우선합니다.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258175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B533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제약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58175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법·절차·예산 등 행정의 구조적 제약이 변화를 더디게 합니다.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015538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커진 개인의 권력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10015538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비대칭이 풀리자 소비자가 생산에 참여했고, 개인의 권력이 커졌습니다.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08883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2010</a:t>
            </a:r>
            <a:endParaRPr lang="en-US" sz="810" dirty="0"/>
          </a:p>
        </p:txBody>
      </p:sp>
      <p:sp>
        <p:nvSpPr>
          <p:cNvPr id="33" name="Text 31"/>
          <p:cNvSpPr txBox="1"/>
          <p:nvPr/>
        </p:nvSpPr>
        <p:spPr>
          <a:xfrm>
            <a:off x="6554684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2014</a:t>
            </a:r>
            <a:endParaRPr lang="en-US" sz="810" dirty="0"/>
          </a:p>
        </p:txBody>
      </p:sp>
      <p:sp>
        <p:nvSpPr>
          <p:cNvPr id="34" name="Text 32"/>
          <p:cNvSpPr txBox="1"/>
          <p:nvPr/>
        </p:nvSpPr>
        <p:spPr>
          <a:xfrm>
            <a:off x="7649759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</a:t>
            </a:r>
            <a:endParaRPr lang="en-US" sz="810" dirty="0"/>
          </a:p>
        </p:txBody>
      </p:sp>
      <p:sp>
        <p:nvSpPr>
          <p:cNvPr id="35" name="Text 33"/>
          <p:cNvSpPr txBox="1"/>
          <p:nvPr/>
        </p:nvSpPr>
        <p:spPr>
          <a:xfrm>
            <a:off x="9115606" y="3099635"/>
            <a:ext cx="45824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2021</a:t>
            </a:r>
            <a:endParaRPr lang="en-US" sz="810" dirty="0"/>
          </a:p>
        </p:txBody>
      </p:sp>
      <p:sp>
        <p:nvSpPr>
          <p:cNvPr id="36" name="Text 34"/>
          <p:cNvSpPr txBox="1"/>
          <p:nvPr/>
        </p:nvSpPr>
        <p:spPr>
          <a:xfrm>
            <a:off x="1095222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</a:t>
            </a:r>
            <a:endParaRPr lang="en-US" sz="810" dirty="0"/>
          </a:p>
        </p:txBody>
      </p:sp>
      <p:sp>
        <p:nvSpPr>
          <p:cNvPr id="37" name="Text 35"/>
          <p:cNvSpPr txBox="1"/>
          <p:nvPr/>
        </p:nvSpPr>
        <p:spPr>
          <a:xfrm>
            <a:off x="5172106" y="2659881"/>
            <a:ext cx="29170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6637954" y="222875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810" dirty="0"/>
          </a:p>
        </p:txBody>
      </p:sp>
      <p:sp>
        <p:nvSpPr>
          <p:cNvPr id="39" name="Text 37"/>
          <p:cNvSpPr txBox="1"/>
          <p:nvPr/>
        </p:nvSpPr>
        <p:spPr>
          <a:xfrm>
            <a:off x="7000104" y="209941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810" dirty="0"/>
          </a:p>
        </p:txBody>
      </p:sp>
      <p:sp>
        <p:nvSpPr>
          <p:cNvPr id="40" name="Text 38"/>
          <p:cNvSpPr txBox="1"/>
          <p:nvPr/>
        </p:nvSpPr>
        <p:spPr>
          <a:xfrm>
            <a:off x="7370877" y="1995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810" dirty="0"/>
          </a:p>
        </p:txBody>
      </p:sp>
      <p:sp>
        <p:nvSpPr>
          <p:cNvPr id="41" name="Text 39"/>
          <p:cNvSpPr txBox="1"/>
          <p:nvPr/>
        </p:nvSpPr>
        <p:spPr>
          <a:xfrm>
            <a:off x="8836725" y="1538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810" dirty="0"/>
          </a:p>
        </p:txBody>
      </p:sp>
      <p:sp>
        <p:nvSpPr>
          <p:cNvPr id="42" name="Text 40"/>
          <p:cNvSpPr txBox="1"/>
          <p:nvPr/>
        </p:nvSpPr>
        <p:spPr>
          <a:xfrm>
            <a:off x="9569648" y="1323373"/>
            <a:ext cx="29527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810" dirty="0"/>
          </a:p>
        </p:txBody>
      </p:sp>
      <p:sp>
        <p:nvSpPr>
          <p:cNvPr id="43" name="Text 41"/>
          <p:cNvSpPr txBox="1"/>
          <p:nvPr/>
        </p:nvSpPr>
        <p:spPr>
          <a:xfrm>
            <a:off x="7720898" y="2659881"/>
            <a:ext cx="3143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810" dirty="0"/>
          </a:p>
        </p:txBody>
      </p:sp>
      <p:sp>
        <p:nvSpPr>
          <p:cNvPr id="44" name="Text 42"/>
          <p:cNvSpPr txBox="1"/>
          <p:nvPr/>
        </p:nvSpPr>
        <p:spPr>
          <a:xfrm>
            <a:off x="9194410" y="2513297"/>
            <a:ext cx="30480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810" dirty="0"/>
          </a:p>
        </p:txBody>
      </p:sp>
      <p:sp>
        <p:nvSpPr>
          <p:cNvPr id="45" name="Text 43"/>
          <p:cNvSpPr txBox="1"/>
          <p:nvPr/>
        </p:nvSpPr>
        <p:spPr>
          <a:xfrm>
            <a:off x="9630424" y="1705577"/>
            <a:ext cx="115428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90"/>
              </a:lnSpc>
              <a:buNone/>
            </a:pPr>
            <a:r>
              <a:rPr lang="en-US" sz="1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900" dirty="0"/>
          </a:p>
        </p:txBody>
      </p:sp>
      <p:sp>
        <p:nvSpPr>
          <p:cNvPr id="46" name="Text 44"/>
          <p:cNvSpPr txBox="1"/>
          <p:nvPr/>
        </p:nvSpPr>
        <p:spPr>
          <a:xfrm>
            <a:off x="9310802" y="2047674"/>
            <a:ext cx="147390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8E1F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불편과 불신이 자라는 자리</a:t>
            </a:r>
            <a:endParaRPr lang="en-US" sz="8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0050" y="438150"/>
            <a:ext cx="6706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경험격차론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857250"/>
            <a:ext cx="1962150" cy="1071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행정도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한때는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혁신이었다</a:t>
            </a:r>
            <a:endParaRPr lang="en-US" sz="2250" dirty="0"/>
          </a:p>
        </p:txBody>
      </p:sp>
      <p:sp>
        <p:nvSpPr>
          <p:cNvPr id="4" name="Text 2"/>
          <p:cNvSpPr txBox="1"/>
          <p:nvPr/>
        </p:nvSpPr>
        <p:spPr>
          <a:xfrm>
            <a:off x="266700" y="2100263"/>
            <a:ext cx="1962150" cy="109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관료제도, 효율의 시대도 한때는 민간이 배우던 혁신이었습니다. 2000년대 이후 정보 비대칭이 풀리며 소비자의 권력이 커졌고, 행정은 뒤따랐습니다.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266700" y="5657850"/>
            <a:ext cx="19621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Golden Cross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66700" y="5895975"/>
            <a:ext cx="1962150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경험의 역전, 이번엔 행정이 앞설 차례</a:t>
            </a:r>
            <a:endParaRPr lang="en-US" sz="2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육수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72543" y="528638"/>
            <a:ext cx="38038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RECIPE OF DELICIOUS COMMUNICATION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71550"/>
            <a:ext cx="1102995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커뮤니케이션은 메시지를 보내는 기술이 아니라,</a:t>
            </a:r>
            <a:endParaRPr lang="en-US" sz="188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사람·콘텐츠·채널·커뮤니티를 새롭게 연결해 다른 경험을 만드는 디자인</a:t>
            </a:r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이다.</a:t>
            </a:r>
            <a:endParaRPr lang="en-US" sz="1880" dirty="0"/>
          </a:p>
        </p:txBody>
      </p:sp>
      <p:sp>
        <p:nvSpPr>
          <p:cNvPr id="5" name="Text 3"/>
          <p:cNvSpPr txBox="1"/>
          <p:nvPr/>
        </p:nvSpPr>
        <p:spPr>
          <a:xfrm>
            <a:off x="990600" y="1762125"/>
            <a:ext cx="32617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 · 새로운 연결 = 요리법 자체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3345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목적을 고른다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93345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3450" y="2924175"/>
            <a:ext cx="1832521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93345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하려는가</a:t>
            </a:r>
            <a:endParaRPr lang="en-US" sz="980" dirty="0"/>
          </a:p>
        </p:txBody>
      </p:sp>
      <p:sp>
        <p:nvSpPr>
          <p:cNvPr id="10" name="Text 8"/>
          <p:cNvSpPr txBox="1"/>
          <p:nvPr/>
        </p:nvSpPr>
        <p:spPr>
          <a:xfrm>
            <a:off x="307077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3C를 준비한다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307077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7077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CHANNEL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COMMUNITY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307077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무엇으로 만드는가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20824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5가지 맛을 더한다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520824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208240" y="2924175"/>
            <a:ext cx="1832521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× FRAME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CONTEXT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INSIGHT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NUDGE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20824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다르게 만드는가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34556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조리한다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734556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4556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DATA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AI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734556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칼·냄비·불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48303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간을 본다</a:t>
            </a:r>
            <a:endParaRPr lang="en-US" sz="980" dirty="0"/>
          </a:p>
        </p:txBody>
      </p:sp>
      <p:sp>
        <p:nvSpPr>
          <p:cNvPr id="23" name="Text 21"/>
          <p:cNvSpPr txBox="1"/>
          <p:nvPr/>
        </p:nvSpPr>
        <p:spPr>
          <a:xfrm>
            <a:off x="948303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ROI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483030" y="2924175"/>
            <a:ext cx="1832521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ORIGINALITY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IMPACT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948303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실제로 맛이 나는가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2295227" y="5819775"/>
            <a:ext cx="16116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002137" y="5715000"/>
            <a:ext cx="6389787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DIFFERENT EXPERIENCE · 주민의 경험이 달라진다</a:t>
            </a:r>
            <a:endParaRPr lang="en-US" sz="2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030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1 · 오늘 무슨 메뉴입니까?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78659" y="604838"/>
            <a:ext cx="15847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01 · MENU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3912691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메뉴를 고르다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24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무엇을 하려는 커뮤니케이션인가?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1386929"/>
            <a:ext cx="4533900" cy="70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목적이 다르면 요리가 다릅니다.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브랜딩을 캠페인처럼 하면 안 되고, 네트워킹에선 조회수보다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누구와 연결됐는지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중요합니다.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브랜드도 '선언'에서 삶·커뮤니티 속 '참여'로 — Edelman 2025 Brand Trust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57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609975"/>
            <a:ext cx="17716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"우리는 누구인가?"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857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— 정체성을 한 문장으로.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0480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0480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문제로 만들 것인가?"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30480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보이지 않던 불편을 의제로 끌어올린다.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52387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387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행동을 만들어낼 것인가?"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52387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인식이 아니라 행동의 변화가 목표다.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74295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4295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기억하게 할 것인가?"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숫자는 잊혀도 장면과 사람은 남는다.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9620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6202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"누구와 관계를 만들 것인가?"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9620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주민·상인·기관을 한 식탁에 앉힌다.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3481239" y="6010275"/>
            <a:ext cx="528652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상황에 맞는 메뉴가 맛있는 커뮤니케이션의 시작입니다</a:t>
            </a:r>
            <a:endParaRPr lang="en-US" sz="2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770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666256" y="528638"/>
            <a:ext cx="2579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THE CHEF'S NOTEBOOK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가지 메뉴, 제가 직접 끓여 본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그릇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대통령 PI 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11760"/>
            <a:ext cx="1885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MSAVN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6784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김대중 대통령의 평양 방문을 준비했다. 한 사람의 모습이 한 나라의 메시지가 되는 일.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3437D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보이는 모든 것은 해석된다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9337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29337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9337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수수료를 '어쩔 수 없는 것'에서 '공정의 문제'로. 사장님 1,547명이 선언했다.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1816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1816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181600" y="2411760"/>
            <a:ext cx="1885950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카페에서 한 여성이 얼굴을 테이블에 비빈다. 카피는 한 줄. 공익광고로는 드물게 대한민국광고대상.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248275" y="5467350"/>
            <a:ext cx="169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4295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4295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이름부터 '사장님 이야기를 담는 곳'. 가장 좋은 강사는 떡볶이집 사장님이었다.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429500" y="5242620"/>
            <a:ext cx="188595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소상공인 교육은 소상공인 이야기가 강사다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6774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6774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서울시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774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'정'을 '청'으로. 청책토론회만 150번. 트위터 한 줄 민원이 그해의 우수정책이 됐다.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6774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2E7D4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듣는 것이 정책이다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2608362" y="6115050"/>
            <a:ext cx="703242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메뉴가 달랐기에 요리법도 달랐습니다 — 같은 방법으로 끓인 그릇은 하나도 없었습니다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81000"/>
            <a:ext cx="24720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 × 세 현장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91185" y="395288"/>
            <a:ext cx="252888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DISHES FROM 3 KITCHENS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42950"/>
            <a:ext cx="6183064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해봤더니 — 다섯 메뉴, 세 주방, </a:t>
            </a:r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열다섯 그릇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9561314" y="570012"/>
            <a:ext cx="217348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김현성, 『소상공인을 버린 AI』(2026)</a:t>
            </a:r>
            <a:endParaRPr lang="en-US" sz="900" dirty="0"/>
          </a:p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6장 서울 · 7장 중기유통센터 · 8장 광주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07645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280" dirty="0"/>
          </a:p>
        </p:txBody>
      </p:sp>
      <p:sp>
        <p:nvSpPr>
          <p:cNvPr id="7" name="Text 5"/>
          <p:cNvSpPr txBox="1"/>
          <p:nvPr/>
        </p:nvSpPr>
        <p:spPr>
          <a:xfrm>
            <a:off x="207645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최초·최연소 디지털보좌관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359301" y="1459409"/>
            <a:ext cx="30163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5359301" y="1697534"/>
            <a:ext cx="3016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초대 소상공인디지털본부장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4230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64230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경제진흥상생일자리재단 초대 대표이사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2303859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71500" y="2503884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우리는 누구인가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207645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청책(聽策)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207645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'정'을 '청'으로 — 시민 10만 명을 만난 이름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5359301" y="2288679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 · 소담상회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359301" y="2507754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기관 이름보다 더 유명해진 브랜드, 전국 6곳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64230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864230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지산지소의 '지(地)'를 D로 — 한 글자로 지은 정책</a:t>
            </a:r>
            <a:endParaRPr lang="en-US" sz="980" dirty="0"/>
          </a:p>
        </p:txBody>
      </p:sp>
      <p:sp>
        <p:nvSpPr>
          <p:cNvPr id="20" name="Text 18"/>
          <p:cNvSpPr txBox="1"/>
          <p:nvPr/>
        </p:nvSpPr>
        <p:spPr>
          <a:xfrm>
            <a:off x="571500" y="3125391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571500" y="3325416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문제로 만들까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207645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207645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신청 0명, 통화량 데이터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359301" y="3110210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13억 건 키워드 백서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5359301" y="3329285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사장님에게 디지털은 기회가 아니라 '공포'였다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864230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130" dirty="0"/>
          </a:p>
        </p:txBody>
      </p:sp>
      <p:sp>
        <p:nvSpPr>
          <p:cNvPr id="27" name="Text 25"/>
          <p:cNvSpPr txBox="1"/>
          <p:nvPr/>
        </p:nvSpPr>
        <p:spPr>
          <a:xfrm>
            <a:off x="864230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 집단 탈퇴 결의, 수수료 9.8%→7.8%</a:t>
            </a:r>
            <a:endParaRPr lang="en-US" sz="980" dirty="0"/>
          </a:p>
        </p:txBody>
      </p:sp>
      <p:sp>
        <p:nvSpPr>
          <p:cNvPr id="28" name="Text 26"/>
          <p:cNvSpPr txBox="1"/>
          <p:nvPr/>
        </p:nvSpPr>
        <p:spPr>
          <a:xfrm>
            <a:off x="571500" y="3946922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571500" y="4146947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행동을 만들까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07645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까치온 무료 와이파이</a:t>
            </a:r>
            <a:endParaRPr lang="en-US" sz="1130" dirty="0"/>
          </a:p>
        </p:txBody>
      </p:sp>
      <p:sp>
        <p:nvSpPr>
          <p:cNvPr id="31" name="Text 29"/>
          <p:cNvSpPr txBox="1"/>
          <p:nvPr/>
        </p:nvSpPr>
        <p:spPr>
          <a:xfrm>
            <a:off x="207645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"인터넷 접속은 수돗물과 같습니다"</a:t>
            </a:r>
            <a:endParaRPr lang="en-US" sz="980" dirty="0"/>
          </a:p>
        </p:txBody>
      </p:sp>
      <p:sp>
        <p:nvSpPr>
          <p:cNvPr id="32" name="Text 30"/>
          <p:cNvSpPr txBox="1"/>
          <p:nvPr/>
        </p:nvSpPr>
        <p:spPr>
          <a:xfrm>
            <a:off x="5359301" y="3931741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경제백신</a:t>
            </a:r>
            <a:endParaRPr lang="en-US" sz="1130" dirty="0"/>
          </a:p>
        </p:txBody>
      </p:sp>
      <p:sp>
        <p:nvSpPr>
          <p:cNvPr id="33" name="Text 31"/>
          <p:cNvSpPr txBox="1"/>
          <p:nvPr/>
        </p:nvSpPr>
        <p:spPr>
          <a:xfrm>
            <a:off x="5359301" y="4150816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3년간 사장님 54,000명이 건넌 디지털 전환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64230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QR광주</a:t>
            </a:r>
            <a:endParaRPr lang="en-US" sz="1130" dirty="0"/>
          </a:p>
        </p:txBody>
      </p:sp>
      <p:sp>
        <p:nvSpPr>
          <p:cNvPr id="35" name="Text 33"/>
          <p:cNvSpPr txBox="1"/>
          <p:nvPr/>
        </p:nvSpPr>
        <p:spPr>
          <a:xfrm>
            <a:off x="864230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키오스크 대신, 테이블 위 QR 스티커 한 장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571500" y="4768453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</p:txBody>
      </p:sp>
      <p:sp>
        <p:nvSpPr>
          <p:cNvPr id="37" name="Text 35"/>
          <p:cNvSpPr txBox="1"/>
          <p:nvPr/>
        </p:nvSpPr>
        <p:spPr>
          <a:xfrm>
            <a:off x="571500" y="4968478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기억하게 할까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207645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가상 시민 '서울씨'</a:t>
            </a:r>
            <a:endParaRPr lang="en-US" sz="1130" dirty="0"/>
          </a:p>
        </p:txBody>
      </p:sp>
      <p:sp>
        <p:nvSpPr>
          <p:cNvPr id="39" name="Text 37"/>
          <p:cNvSpPr txBox="1"/>
          <p:nvPr/>
        </p:nvSpPr>
        <p:spPr>
          <a:xfrm>
            <a:off x="207645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계획서 대신 종암동 45세 워킹맘의 하루를 그렸다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5359301" y="4753273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떡볶이집 사장님 강사</a:t>
            </a:r>
            <a:endParaRPr lang="en-US" sz="1130" dirty="0"/>
          </a:p>
        </p:txBody>
      </p:sp>
      <p:sp>
        <p:nvSpPr>
          <p:cNvPr id="41" name="Text 39"/>
          <p:cNvSpPr txBox="1"/>
          <p:nvPr/>
        </p:nvSpPr>
        <p:spPr>
          <a:xfrm>
            <a:off x="5359301" y="4972348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라이브 30분에 50세트, 석 달 뒤 강단에 서다</a:t>
            </a:r>
            <a:endParaRPr lang="en-US" sz="980" dirty="0"/>
          </a:p>
        </p:txBody>
      </p:sp>
      <p:sp>
        <p:nvSpPr>
          <p:cNvPr id="42" name="Text 40"/>
          <p:cNvSpPr txBox="1"/>
          <p:nvPr/>
        </p:nvSpPr>
        <p:spPr>
          <a:xfrm>
            <a:off x="864230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푸드클럽</a:t>
            </a:r>
            <a:endParaRPr lang="en-US" sz="1130" dirty="0"/>
          </a:p>
        </p:txBody>
      </p:sp>
      <p:sp>
        <p:nvSpPr>
          <p:cNvPr id="43" name="Text 41"/>
          <p:cNvSpPr txBox="1"/>
          <p:nvPr/>
        </p:nvSpPr>
        <p:spPr>
          <a:xfrm>
            <a:off x="864230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FC는 Food Club — 홈경기에 11개 브랜드, 30분 완판</a:t>
            </a:r>
            <a:endParaRPr lang="en-US" sz="980" dirty="0"/>
          </a:p>
        </p:txBody>
      </p:sp>
      <p:sp>
        <p:nvSpPr>
          <p:cNvPr id="44" name="Text 42"/>
          <p:cNvSpPr txBox="1"/>
          <p:nvPr/>
        </p:nvSpPr>
        <p:spPr>
          <a:xfrm>
            <a:off x="571500" y="5589984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45" name="Text 43"/>
          <p:cNvSpPr txBox="1"/>
          <p:nvPr/>
        </p:nvSpPr>
        <p:spPr>
          <a:xfrm>
            <a:off x="571500" y="5790009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연결할까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207645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개포 디지털혁신파크</a:t>
            </a:r>
            <a:endParaRPr lang="en-US" sz="1130" dirty="0"/>
          </a:p>
        </p:txBody>
      </p:sp>
      <p:sp>
        <p:nvSpPr>
          <p:cNvPr id="47" name="Text 45"/>
          <p:cNvSpPr txBox="1"/>
          <p:nvPr/>
        </p:nvSpPr>
        <p:spPr>
          <a:xfrm>
            <a:off x="207645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스타트업 청년과 전통시장 상인이 만나는 공간</a:t>
            </a:r>
            <a:endParaRPr lang="en-US" sz="980" dirty="0"/>
          </a:p>
        </p:txBody>
      </p:sp>
      <p:sp>
        <p:nvSpPr>
          <p:cNvPr id="48" name="Text 46"/>
          <p:cNvSpPr txBox="1"/>
          <p:nvPr/>
        </p:nvSpPr>
        <p:spPr>
          <a:xfrm>
            <a:off x="5359301" y="5574804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가치삽시다</a:t>
            </a:r>
            <a:endParaRPr lang="en-US" sz="1130" dirty="0"/>
          </a:p>
        </p:txBody>
      </p:sp>
      <p:sp>
        <p:nvSpPr>
          <p:cNvPr id="49" name="Text 47"/>
          <p:cNvSpPr txBox="1"/>
          <p:nvPr/>
        </p:nvSpPr>
        <p:spPr>
          <a:xfrm>
            <a:off x="5359301" y="5793879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번 등록하면 14개 민간 채널에 자동 연계</a:t>
            </a:r>
            <a:endParaRPr lang="en-US" sz="980" dirty="0"/>
          </a:p>
        </p:txBody>
      </p:sp>
      <p:sp>
        <p:nvSpPr>
          <p:cNvPr id="50" name="Text 48"/>
          <p:cNvSpPr txBox="1"/>
          <p:nvPr/>
        </p:nvSpPr>
        <p:spPr>
          <a:xfrm>
            <a:off x="864230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 디지털 닥터단</a:t>
            </a:r>
            <a:endParaRPr lang="en-US" sz="1130" dirty="0"/>
          </a:p>
        </p:txBody>
      </p:sp>
      <p:sp>
        <p:nvSpPr>
          <p:cNvPr id="51" name="Text 49"/>
          <p:cNvSpPr txBox="1"/>
          <p:nvPr/>
        </p:nvSpPr>
        <p:spPr>
          <a:xfrm>
            <a:off x="864230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대학생이 골목 가게로 — 두 세대가 골목에서 만났다</a:t>
            </a:r>
            <a:endParaRPr lang="en-US" sz="980" dirty="0"/>
          </a:p>
        </p:txBody>
      </p:sp>
      <p:sp>
        <p:nvSpPr>
          <p:cNvPr id="52" name="Text 50"/>
          <p:cNvSpPr txBox="1"/>
          <p:nvPr/>
        </p:nvSpPr>
        <p:spPr>
          <a:xfrm>
            <a:off x="3111252" y="6267450"/>
            <a:ext cx="6026497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책상에서 짠 레시피가 아니라, 세 주방에서 직접 끓여 본 레시피입니다</a:t>
            </a:r>
            <a:endParaRPr lang="en-US" sz="2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3011"/>
            <a:ext cx="18907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2 · 어떤 재료를 씁니까?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86063" y="527298"/>
            <a:ext cx="25202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02 · INGREDIENT · 3C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3061"/>
            <a:ext cx="6510933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②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재료를 준비하다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무엇으로 경험을 만드는가?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225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담을 것인가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4714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09762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① 무엇을 경험하나</a:t>
            </a:r>
            <a:endParaRPr lang="en-US" sz="94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넷플릭스는 목록 대신 '당신을 위한 추천'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572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게시판의 공고문 한 장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239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알릴까"가 아니라 "주민에게 무슨 뜻일까"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46101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어디에서 만나게 할 것인가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434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53576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5795963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접점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47434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② 어디서·언제 경험하나</a:t>
            </a:r>
            <a:endParaRPr lang="en-US" sz="940" dirty="0"/>
          </a:p>
        </p:txBody>
      </p:sp>
      <p:sp>
        <p:nvSpPr>
          <p:cNvPr id="20" name="Text 18"/>
          <p:cNvSpPr txBox="1"/>
          <p:nvPr/>
        </p:nvSpPr>
        <p:spPr>
          <a:xfrm>
            <a:off x="47434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카카오톡 알림 한 줄이 먼저 찾아온다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7434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홈페이지에서 주민을 기다린다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"어디에 올릴까"가 아니라 "주민의 하루 어디에서 만날까"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84963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84963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만들고 퍼뜨릴 것인가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629650" y="3248025"/>
            <a:ext cx="63564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수용자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9436745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9875044" y="3248025"/>
            <a:ext cx="102111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공동제작자</a:t>
            </a:r>
            <a:endParaRPr lang="en-US" sz="1650" dirty="0"/>
          </a:p>
        </p:txBody>
      </p:sp>
      <p:sp>
        <p:nvSpPr>
          <p:cNvPr id="28" name="Text 26"/>
          <p:cNvSpPr txBox="1"/>
          <p:nvPr/>
        </p:nvSpPr>
        <p:spPr>
          <a:xfrm>
            <a:off x="86296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③ 누구와 경험하나</a:t>
            </a:r>
            <a:endParaRPr lang="en-US" sz="940" dirty="0"/>
          </a:p>
        </p:txBody>
      </p:sp>
      <p:sp>
        <p:nvSpPr>
          <p:cNvPr id="29" name="Text 27"/>
          <p:cNvSpPr txBox="1"/>
          <p:nvPr/>
        </p:nvSpPr>
        <p:spPr>
          <a:xfrm>
            <a:off x="86296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배민 리뷰 · 당근 동네생활, 이용자가 함께 만든다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6296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주민설명회에 주민을 초대한다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4963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"누구에게 알릴까"가 아니라 "누구와 함께 만들까"</a:t>
            </a:r>
            <a:endParaRPr lang="en-US" sz="1130" dirty="0"/>
          </a:p>
        </p:txBody>
      </p:sp>
      <p:sp>
        <p:nvSpPr>
          <p:cNvPr id="32" name="Text 30"/>
          <p:cNvSpPr txBox="1"/>
          <p:nvPr/>
        </p:nvSpPr>
        <p:spPr>
          <a:xfrm>
            <a:off x="704850" y="5995988"/>
            <a:ext cx="52197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3C는 모든 메뉴에 들어가는 </a:t>
            </a:r>
            <a:pPr algn="l" indent="0" marL="0">
              <a:lnSpc>
                <a:spcPts val="174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세 가지 재료</a:t>
            </a:r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무엇을 · 어디서 · 누구와. 경험격차도 이 세 군데에서 각각 벌어져 있습니다.</a:t>
            </a:r>
            <a:endParaRPr lang="en-US" sz="1130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5995988"/>
            <a:ext cx="52197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흐름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채널은 따로가 아니라 통합으로(AMEC 바르셀로나 원칙 4.0, PESO). 크리에이터는 '문화의 설계자', 플랫폼은 '신뢰의 매개자'(Edelman 2025).</a:t>
            </a:r>
            <a:endParaRPr lang="en-US" sz="9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191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INGREDIENT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재료가 바뀌자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2E7D4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바뀌었다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239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 · 정보 → 의미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살에게 '폐암'은 너무 먼 정보였다. 그들이 신경 쓰는 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피부와 입냄새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8191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</a:t>
            </a:r>
            <a:endParaRPr lang="en-US" sz="980" dirty="0"/>
          </a:p>
        </p:txBody>
      </p:sp>
      <p:sp>
        <p:nvSpPr>
          <p:cNvPr id="8" name="Text 6"/>
          <p:cNvSpPr txBox="1"/>
          <p:nvPr/>
        </p:nvSpPr>
        <p:spPr>
          <a:xfrm>
            <a:off x="8191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메시지로 바꾼 행동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 · 전달 → 접점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2020–2023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강의실에서 가르치는 대신 사장님의 가게가 방송국이 됐다. 떡볶이집 사장님의 첫 라이브,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30분에 50세트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46672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사장님의 이야기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46672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매출보다 먼저 온 자신감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4201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 · 수용자 → 공동제작자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4201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2011–2017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201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10만 명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180일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동안 서울의 디지털 기본계획을 함께 썼다. 들은 사람이 아니라 쓴 사람이 된 시민.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85153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 10만 명의 목소리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5153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시민이 함께 쓴 기본계획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4838700" y="5612606"/>
            <a:ext cx="6033046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6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말하기 전에 먼저 듣는다. 답은 늘 테이블 건너편에 있었다.</a:t>
            </a:r>
            <a:endParaRPr lang="en-US" sz="2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042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CONTENT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1395" y="495300"/>
            <a:ext cx="75604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→ 의미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52500"/>
            <a:ext cx="5162550" cy="1148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폐암 대신</a:t>
            </a:r>
            <a:endParaRPr lang="en-US" sz="3900" dirty="0"/>
          </a:p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입속</a:t>
            </a:r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말했다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2291953"/>
            <a:ext cx="516255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 흡연자에게 '폐암'은 먼 훗날의 정보였습니다. 그들이 오늘 밤 신경 쓰는 건 마주 앉은 사람 앞의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미소 한 번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「자학」</a:t>
            </a:r>
            <a:endParaRPr lang="en-US" sz="158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흡연을 나를 해치는 행동으로 다시 보게 했다.</a:t>
            </a:r>
            <a:endParaRPr lang="en-US" sz="116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432572"/>
            <a:ext cx="285750" cy="151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4805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이어서 · 보건복지부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44805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「치아변색」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344805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웃는 순간 드러나는 누런 치아. "흡연, 입 속을 불결하게 만드는 심각한 원인."</a:t>
            </a:r>
            <a:endParaRPr lang="en-US" sz="116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710238"/>
            <a:ext cx="48577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3C로 읽기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929313"/>
            <a:ext cx="4857750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호감이 오가는 저녁 자리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겁이 아니라 '신경 쓰임'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6076950" y="4762500"/>
            <a:ext cx="22103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보건복지부 금연광고 「치아변색」 · 21초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10762357" y="4762500"/>
            <a:ext cx="8200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 눌러서 재생</a:t>
            </a:r>
            <a:endParaRPr lang="en-US" sz="980" dirty="0"/>
          </a:p>
        </p:txBody>
      </p:sp>
      <p:sp>
        <p:nvSpPr>
          <p:cNvPr id="17" name="Text 15"/>
          <p:cNvSpPr txBox="1"/>
          <p:nvPr/>
        </p:nvSpPr>
        <p:spPr>
          <a:xfrm>
            <a:off x="7753350" y="5347841"/>
            <a:ext cx="18271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반전의 1초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753350" y="5566916"/>
            <a:ext cx="1827163" cy="810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겁을 주지 않고,</a:t>
            </a:r>
            <a:endParaRPr lang="en-US" sz="2850" dirty="0"/>
          </a:p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신경 쓰이게 했다</a:t>
            </a:r>
            <a:endParaRPr lang="en-US" sz="285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76950" y="576263"/>
            <a:ext cx="5448300" cy="40862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150"/>
            <a:ext cx="2171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3 · 무엇으로 맛을 바꿉니까?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6455" y="452438"/>
            <a:ext cx="30096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03 · SEASONING · 5 SPICES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819150"/>
            <a:ext cx="7608838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③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양념으로 맛을 내다 </a:t>
            </a:r>
            <a:pPr algn="l" indent="0" marL="0">
              <a:lnSpc>
                <a:spcPts val="3890"/>
              </a:lnSpc>
              <a:buNone/>
            </a:pPr>
            <a:r>
              <a:rPr lang="en-US" sz="203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경험격차를 줄이는 다섯 가지 손놀림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PERCEPTION · 인식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마음의 경험을 바꾼다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것을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보이게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2704207"/>
            <a:ext cx="10507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FRAME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27027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관점을 바꾸고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8382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 → 이동상인. 이름을 바꾸자 단속 대상이 지원 대상이 됐다.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38200" y="3900488"/>
            <a:ext cx="13111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CONTEXT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2187476" y="3948112"/>
            <a:ext cx="84742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3073003" y="3995738"/>
            <a:ext cx="736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6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양념의 소금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38200" y="4262438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· 한여름 · 장례식장의 우산. 같은 물건, 다른 의미.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"아, 그런 뜻이었구나"</a:t>
            </a:r>
            <a:endParaRPr lang="en-US" sz="2550" dirty="0"/>
          </a:p>
        </p:txBody>
      </p:sp>
      <p:sp>
        <p:nvSpPr>
          <p:cNvPr id="17" name="Text 15"/>
          <p:cNvSpPr txBox="1"/>
          <p:nvPr/>
        </p:nvSpPr>
        <p:spPr>
          <a:xfrm>
            <a:off x="4819650" y="1675507"/>
            <a:ext cx="2609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DISCOVERY · 발견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4819650" y="1875532"/>
            <a:ext cx="2609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격차를 찾는 눈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4819650" y="2275582"/>
            <a:ext cx="2609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벌어졌는지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찾는다</a:t>
            </a:r>
            <a:endParaRPr lang="en-US" sz="1130" dirty="0"/>
          </a:p>
        </p:txBody>
      </p:sp>
      <p:sp>
        <p:nvSpPr>
          <p:cNvPr id="20" name="Text 18"/>
          <p:cNvSpPr txBox="1"/>
          <p:nvPr/>
        </p:nvSpPr>
        <p:spPr>
          <a:xfrm>
            <a:off x="4972050" y="2704207"/>
            <a:ext cx="2305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INSIGHT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4972050" y="3066157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숨은 것을 발견하고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72050" y="3351907"/>
            <a:ext cx="230505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제안은 0건, 심야 통화는 30억 건. 올빼미버스는 데이터가 먼저 찾았다.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4791075" y="4280595"/>
            <a:ext cx="26098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9CC3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주민은 어디서 멈춥니까?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4819650" y="5550694"/>
            <a:ext cx="9373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보이게 하고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6623596" y="5550694"/>
            <a:ext cx="8059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겪게 한다 →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78105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ENVIRONMENT · 환경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78105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몸의 경험을 바꾼다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8105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환경을 바꿔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겪게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7962900" y="2704207"/>
            <a:ext cx="8910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RULE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8892034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규칙을 바꾸고</a:t>
            </a:r>
            <a:endParaRPr lang="en-US" sz="1280" dirty="0"/>
          </a:p>
        </p:txBody>
      </p:sp>
      <p:sp>
        <p:nvSpPr>
          <p:cNvPr id="31" name="Text 29"/>
          <p:cNvSpPr txBox="1"/>
          <p:nvPr/>
        </p:nvSpPr>
        <p:spPr>
          <a:xfrm>
            <a:off x="79629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버스를 설득하는 대신 길 한가운데를 내줬다 — 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62900" y="3900488"/>
            <a:ext cx="10837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NUDGE</a:t>
            </a:r>
            <a:endParaRPr lang="en-US" sz="1650" dirty="0"/>
          </a:p>
        </p:txBody>
      </p:sp>
      <p:sp>
        <p:nvSpPr>
          <p:cNvPr id="33" name="Text 31"/>
          <p:cNvSpPr txBox="1"/>
          <p:nvPr/>
        </p:nvSpPr>
        <p:spPr>
          <a:xfrm>
            <a:off x="9084766" y="3948112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행동을 쉽게 한다</a:t>
            </a:r>
            <a:endParaRPr lang="en-US" sz="1280" dirty="0"/>
          </a:p>
        </p:txBody>
      </p:sp>
      <p:sp>
        <p:nvSpPr>
          <p:cNvPr id="34" name="Text 32"/>
          <p:cNvSpPr txBox="1"/>
          <p:nvPr/>
        </p:nvSpPr>
        <p:spPr>
          <a:xfrm>
            <a:off x="7962900" y="4262438"/>
            <a:ext cx="3448050" cy="236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대신 소변기 속 파리 한 마리.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"어, 저절로 되네"</a:t>
            </a:r>
            <a:endParaRPr lang="en-US" sz="2550" dirty="0"/>
          </a:p>
        </p:txBody>
      </p:sp>
      <p:sp>
        <p:nvSpPr>
          <p:cNvPr id="37" name="Text 35"/>
          <p:cNvSpPr txBox="1"/>
          <p:nvPr/>
        </p:nvSpPr>
        <p:spPr>
          <a:xfrm>
            <a:off x="533400" y="6105227"/>
            <a:ext cx="4829473" cy="398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마음만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분칠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, 몸만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B07A00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아무도 모른다</a:t>
            </a:r>
            <a:endParaRPr lang="en-US" sz="2850" dirty="0"/>
          </a:p>
        </p:txBody>
      </p:sp>
      <p:sp>
        <p:nvSpPr>
          <p:cNvPr id="38" name="Text 36"/>
          <p:cNvSpPr txBox="1"/>
          <p:nvPr/>
        </p:nvSpPr>
        <p:spPr>
          <a:xfrm>
            <a:off x="7848600" y="6036469"/>
            <a:ext cx="386715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4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렌즈로서의 양념</a:t>
            </a:r>
            <a:pPr algn="l" indent="0" marL="0">
              <a:lnSpc>
                <a:spcPts val="1410"/>
              </a:lnSpc>
              <a:buNone/>
            </a:pPr>
            <a:r>
              <a:rPr lang="en-US" sz="94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영국 정부 전략커뮤니케이션(GCS): 정책 맥락 → 목표 행동 → 대상 통찰 → COM-B 장애요인 → EAST 행동설계 → 평가. 다음 장부터 한 장에 한 맛씩.</a:t>
            </a:r>
            <a:endParaRPr lang="en-US" sz="9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9941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① RULE · 규칙을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08573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버스를 설득하지 않았다.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길의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8A73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규칙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바꿨다.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2004년 7월, 서울 대중교통 체계 개편. 버스 기사에게 "빨리 달려 달라" 부탁하는 대신, 도로 한가운데를 버스에게 내줬습니다.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메시지가 아니라 작동방식이 바뀌자 행동이 따라왔습니다.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599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규칙 — 『소상공인을 버린 AI』 디지털 권리장전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38076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 · "신청 전에 국가가 먼저 찾는다" — 캠페인보다 오래가는 건 규칙입니다.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 없이 만든 것은 법 없이 사라진다.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부서의 '중앙차로'는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7121415" y="732609"/>
            <a:ext cx="91246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</a:t>
            </a:r>
            <a:endParaRPr lang="en-US" sz="1340" dirty="0"/>
          </a:p>
        </p:txBody>
      </p:sp>
      <p:sp>
        <p:nvSpPr>
          <p:cNvPr id="10" name="Text 8"/>
          <p:cNvSpPr txBox="1"/>
          <p:nvPr/>
        </p:nvSpPr>
        <p:spPr>
          <a:xfrm>
            <a:off x="9911666" y="732609"/>
            <a:ext cx="79150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</a:t>
            </a:r>
            <a:endParaRPr lang="en-US" sz="1340" dirty="0"/>
          </a:p>
        </p:txBody>
      </p:sp>
      <p:sp>
        <p:nvSpPr>
          <p:cNvPr id="11" name="Text 9"/>
          <p:cNvSpPr txBox="1"/>
          <p:nvPr/>
        </p:nvSpPr>
        <p:spPr>
          <a:xfrm>
            <a:off x="7266690" y="3944915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2" name="Text 10"/>
          <p:cNvSpPr txBox="1"/>
          <p:nvPr/>
        </p:nvSpPr>
        <p:spPr>
          <a:xfrm>
            <a:off x="6870927" y="2361860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3" name="Text 11"/>
          <p:cNvSpPr txBox="1"/>
          <p:nvPr/>
        </p:nvSpPr>
        <p:spPr>
          <a:xfrm>
            <a:off x="8397444" y="3681072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2106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② FRAME · 관점을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21087" y="5715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사람,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C9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액자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'잡상인'이라 부르면 단속 대상이 되고, '이동상인'이라 부르면 지원 대상이 됩니다. 사람은 그대로인데 액자가 바뀌자 정책이 바뀝니다. 이름은 가장 값싸고 가장 강한 양념입니다.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40919"/>
            <a:ext cx="120937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strike="sngStrike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047577" y="35409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333327" y="3540919"/>
            <a:ext cx="13190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050" y="4112419"/>
            <a:ext cx="7448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83085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868835" y="4112419"/>
            <a:ext cx="1553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479453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65203" y="4112419"/>
            <a:ext cx="15815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C9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우리가 무심코 쓰는 이름 중, 바꿔야 할 것은?</a:t>
            </a:r>
            <a:endParaRPr lang="en-US" sz="2850" dirty="0"/>
          </a:p>
        </p:txBody>
      </p:sp>
      <p:sp>
        <p:nvSpPr>
          <p:cNvPr id="15" name="Text 13"/>
          <p:cNvSpPr txBox="1"/>
          <p:nvPr/>
        </p:nvSpPr>
        <p:spPr>
          <a:xfrm>
            <a:off x="7862344" y="2159590"/>
            <a:ext cx="2163261" cy="866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460"/>
              </a:lnSpc>
              <a:buNone/>
            </a:pPr>
            <a:r>
              <a:rPr lang="en-US" sz="47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</a:t>
            </a:r>
            <a:endParaRPr lang="en-US" sz="4750" dirty="0"/>
          </a:p>
        </p:txBody>
      </p:sp>
      <p:sp>
        <p:nvSpPr>
          <p:cNvPr id="16" name="Text 14"/>
          <p:cNvSpPr txBox="1"/>
          <p:nvPr/>
        </p:nvSpPr>
        <p:spPr>
          <a:xfrm>
            <a:off x="7186047" y="3373415"/>
            <a:ext cx="3515856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60"/>
              </a:lnSpc>
              <a:buNone/>
            </a:pPr>
            <a:r>
              <a:rPr lang="en-US" sz="579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이동상인</a:t>
            </a:r>
            <a:endParaRPr lang="en-US" sz="5790" dirty="0"/>
          </a:p>
        </p:txBody>
      </p:sp>
      <p:sp>
        <p:nvSpPr>
          <p:cNvPr id="17" name="Text 15"/>
          <p:cNvSpPr txBox="1"/>
          <p:nvPr/>
        </p:nvSpPr>
        <p:spPr>
          <a:xfrm>
            <a:off x="7783793" y="4510904"/>
            <a:ext cx="2320364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8A5A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단속 대상 → 지원 대상</a:t>
            </a:r>
            <a:endParaRPr lang="en-US" sz="1480" dirty="0"/>
          </a:p>
        </p:txBody>
      </p:sp>
      <p:sp>
        <p:nvSpPr>
          <p:cNvPr id="18" name="Text 16"/>
          <p:cNvSpPr txBox="1"/>
          <p:nvPr/>
        </p:nvSpPr>
        <p:spPr>
          <a:xfrm>
            <a:off x="7604150" y="5745616"/>
            <a:ext cx="26796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사람은 그대로, 액자만 바꿨다</a:t>
            </a:r>
            <a:endParaRPr lang="en-US" sz="134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31200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③ CONTEXT · 맥락을 읽고 — 양념의 소금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234458" y="5334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33450"/>
            <a:ext cx="50037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우산, 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8FD16A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의미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629400" y="915591"/>
            <a:ext cx="5010150" cy="565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콘텐츠도 </a:t>
            </a:r>
            <a:pPr algn="l" indent="0" marL="0">
              <a:lnSpc>
                <a:spcPts val="223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누구에게 · 언제 · 어디에서 · 어떤 상황에서</a:t>
            </a:r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도착하느냐에 따라 전혀 다른 경험이 됩니다.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5062538"/>
            <a:ext cx="32828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라면 · 오늘의 첫 질문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5291138"/>
            <a:ext cx="3282851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 라면도 한강 둔치에서 먹으면 다른 맛. 맛은 장면이 만든다.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83001" y="5062538"/>
            <a:ext cx="328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코로나19 한복판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483001" y="5291138"/>
            <a:ext cx="32830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디지털 교육도 그때는 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'디지털 경제백신'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이어야 했다.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85100" y="5371654"/>
            <a:ext cx="3282851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이 문자는 주민의 하루 중 언제 도착합니까?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210337" y="4367213"/>
            <a:ext cx="230372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— 고마움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5271113" y="4367213"/>
            <a:ext cx="164977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한여름 — 그늘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879540" y="4367213"/>
            <a:ext cx="190052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장례식장 — 예의</a:t>
            </a:r>
            <a:endParaRPr lang="en-US" sz="16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547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④ INSIGHT · 숨은 것을 발견하고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737818" y="609600"/>
            <a:ext cx="86796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격차를 찾는 눈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805809" y="604838"/>
            <a:ext cx="10964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· 2013.9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85850"/>
            <a:ext cx="52387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자정 넘은 서울,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집에 못 가는 사람들</a:t>
            </a:r>
            <a:endParaRPr lang="en-US" sz="37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19350"/>
            <a:ext cx="523875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대리기사, 청소노동자, 편의점 야간 알바생. 막차가 끊긴 뒤에도 도시는 이들의 노동으로 돌아갔지만, 누구도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"밤에는 버스가 없는 게 당연한가?"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라고 묻지 않았습니다.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29025"/>
            <a:ext cx="5238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던지자 데이터가 답했습니다. 공식 채널로 들어온 심야버스 제안은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건도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없었습니다. 하지만 새벽의 통화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30억 건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말하고 있었습니다. 그 길을 따라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 노선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그었고, 정식 운행 50일 만에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30만 명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탔습니다.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010275"/>
            <a:ext cx="523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 우리만 듣지 못했던 것이다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645795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 · 질문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57950" y="4440138"/>
            <a:ext cx="1441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밤엔 버스가 없나?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2320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· 발견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3200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심야 통화 30억 건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9988451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결과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988451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밤에도 집에 간다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96050" y="5354538"/>
            <a:ext cx="4895850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운행 날 버스 안에서 울었다는 한 청소노동자가 있었습니다. 이번에는 기뻐서였다고 합니다.</a:t>
            </a:r>
            <a:endParaRPr lang="en-US" sz="1280" dirty="0"/>
          </a:p>
        </p:txBody>
      </p:sp>
      <p:sp>
        <p:nvSpPr>
          <p:cNvPr id="16" name="Text 14"/>
          <p:cNvSpPr txBox="1"/>
          <p:nvPr/>
        </p:nvSpPr>
        <p:spPr>
          <a:xfrm>
            <a:off x="6496050" y="5894487"/>
            <a:ext cx="4895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현장에서 전해 들은 이야기</a:t>
            </a:r>
            <a:endParaRPr lang="en-US" sz="9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57950" y="552450"/>
            <a:ext cx="2317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⑤ NUDGE · 행동을 쉽게 한다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127480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305550" y="1009650"/>
            <a:ext cx="5334000" cy="1078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조준을 부탁하지 않았다.</a:t>
            </a:r>
            <a:endParaRPr lang="en-US" sz="3600" dirty="0"/>
          </a:p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B9B7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조준하고 싶게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만들었다.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305550" y="2259806"/>
            <a:ext cx="5334000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암스테르담 스키폴 공항 남자 화장실. 소변기 배수구 옆에 파리 한 마리를 그려 넣자 밖으로 튀는 양이 크게 줄었습니다. 탈러와 선스타인의 『넛지』(2008)가 소개하며 행동설계의 상징이 됐습니다.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77000" y="40552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9D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넛지 — 1트윗 = 1원, 2009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77000" y="43029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"기부하세요" 대신 "평소처럼 트윗하세요". 석 달 만에 600여 명, 800만 원. 나눔의 문턱을 낮추자 행동이 따라왔습니다.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0555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B9B7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신청서의 '파리 한 마리'는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4864037" y="1806518"/>
            <a:ext cx="65023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조준!</a:t>
            </a:r>
            <a:endParaRPr lang="en-US" sz="1480" dirty="0"/>
          </a:p>
        </p:txBody>
      </p:sp>
      <p:sp>
        <p:nvSpPr>
          <p:cNvPr id="10" name="Text 8"/>
          <p:cNvSpPr txBox="1"/>
          <p:nvPr/>
        </p:nvSpPr>
        <p:spPr>
          <a:xfrm>
            <a:off x="1522117" y="6037931"/>
            <a:ext cx="345181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70"/>
              </a:lnSpc>
              <a:buNone/>
            </a:pPr>
            <a:r>
              <a:rPr lang="en-US" sz="119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안내문 대신, 파리 한 마리</a:t>
            </a:r>
            <a:endParaRPr lang="en-US" sz="119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1000" y="285750"/>
            <a:ext cx="5772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 ④ TOOLS · 정책실의 주방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81000" y="723900"/>
            <a:ext cx="577215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우리의 방법론이 곧 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조리도구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입니다</a:t>
            </a:r>
            <a:endParaRPr lang="en-US" sz="2850" dirty="0"/>
          </a:p>
        </p:txBody>
      </p:sp>
      <p:sp>
        <p:nvSpPr>
          <p:cNvPr id="4" name="Text 2"/>
          <p:cNvSpPr txBox="1"/>
          <p:nvPr/>
        </p:nvSpPr>
        <p:spPr>
          <a:xfrm>
            <a:off x="381000" y="1253430"/>
            <a:ext cx="57721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AI는 레시피를 찾고, 사람은 맛을 본다 — AI를 도구로 두면 AX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9630519" y="2200275"/>
            <a:ext cx="74146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480551" y="2200275"/>
            <a:ext cx="57254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1334080" y="2200275"/>
            <a:ext cx="3728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191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</a:t>
            </a:r>
            <a:endParaRPr lang="en-US" sz="225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地</a:t>
            </a:r>
            <a:endParaRPr lang="en-US" sz="2250" dirty="0"/>
          </a:p>
        </p:txBody>
      </p:sp>
      <p:sp>
        <p:nvSpPr>
          <p:cNvPr id="10" name="Text 8"/>
          <p:cNvSpPr txBox="1"/>
          <p:nvPr/>
        </p:nvSpPr>
        <p:spPr>
          <a:xfrm>
            <a:off x="16383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人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2270968" y="2324100"/>
            <a:ext cx="468213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03860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0535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땀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72100" y="3933825"/>
            <a:ext cx="3689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1253" y="380047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660803" y="340042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41120" y="180022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705600" y="1714500"/>
            <a:ext cx="21156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 · 주문이 들어온다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6705600" y="1914525"/>
            <a:ext cx="998533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442341" y="2486025"/>
            <a:ext cx="262276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벽걸이 도구 · DESIGN × DATA × AI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283220" y="31908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8650" y="3114675"/>
            <a:ext cx="24456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 · 시대·장소·사람으로 읽고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8650" y="3305175"/>
            <a:ext cx="1680731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Q · 익숙한 것을 의심한다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83220" y="4791075"/>
            <a:ext cx="3143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28650" y="4705350"/>
            <a:ext cx="124831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타이머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628650" y="4905375"/>
            <a:ext cx="1711494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2912120" y="63531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257550" y="6257925"/>
            <a:ext cx="2103738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 · 연결하고 숙성한다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3257550" y="6467475"/>
            <a:ext cx="173664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불 조절 손잡이 뜻 · 땀 · 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082382" y="4810125"/>
            <a:ext cx="40823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6·7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477000" y="4714875"/>
            <a:ext cx="9182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· 5중 체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477000" y="4905375"/>
            <a:ext cx="1218515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것만 걸러 낸다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922270" y="47910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4714875"/>
            <a:ext cx="1044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267700" y="4905375"/>
            <a:ext cx="78640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맛본다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068544" y="41624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980" dirty="0"/>
          </a:p>
        </p:txBody>
      </p:sp>
      <p:sp>
        <p:nvSpPr>
          <p:cNvPr id="37" name="Text 35"/>
          <p:cNvSpPr txBox="1"/>
          <p:nvPr/>
        </p:nvSpPr>
        <p:spPr>
          <a:xfrm>
            <a:off x="9467850" y="4086225"/>
            <a:ext cx="173953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배식구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467850" y="4276725"/>
            <a:ext cx="158708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식탁에서 검증한다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9582894" y="61817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9982200" y="6105525"/>
            <a:ext cx="19083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 · 레시피 노트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982200" y="6296025"/>
            <a:ext cx="1670090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 요리로 잇는다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④ TOOLS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버린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부리는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048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048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 · 서울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048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통화 30억 건으로 새벽의 길을 찾았다. 데이터는 신청보다 먼저 도착한다.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445770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45770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 · 1소1상 · 광주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45770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지역에서 만들고 디지털로 판다. 사장님 한 명에 킬러 상품 하나 — 경험을 설계한 구조.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82105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105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 · 지금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105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부리는 법을 익힌다. 그래야 골목에도 건넬 수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762000" y="3419921"/>
            <a:ext cx="6419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8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국가 AI 전략 회의를 마치고 들른 떡갈비집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62000" y="3705671"/>
            <a:ext cx="64198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</a:t>
            </a:r>
            <a:endParaRPr lang="en-US" sz="15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그냥 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4410521"/>
            <a:ext cx="6419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고가도로 위에서는 AI 주권을 말하는데, 그 아래 골목에서는 전혀 다른 언어가 쓰이고 있었다. 도구가 누구 손에 있느냐가 맛을 정한다.</a:t>
            </a:r>
            <a:endParaRPr lang="en-US" sz="1130" dirty="0"/>
          </a:p>
        </p:txBody>
      </p:sp>
      <p:sp>
        <p:nvSpPr>
          <p:cNvPr id="16" name="Text 14"/>
          <p:cNvSpPr txBox="1"/>
          <p:nvPr/>
        </p:nvSpPr>
        <p:spPr>
          <a:xfrm>
            <a:off x="9258300" y="4386411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『소상공인을 버린 AI』 중에서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258300" y="4672161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진짜 소버린 AI는 소상공인이 주인인 AI다</a:t>
            </a:r>
            <a:endParaRPr lang="en-US" sz="2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7078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4 · 간은 보셨습니까?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55553" y="604838"/>
            <a:ext cx="2110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05 · TASTE (ROI)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⑤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간을 보다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정말 맛있는 커뮤니케이션인가?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826270" y="2130028"/>
            <a:ext cx="118735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ROI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146971" y="2201466"/>
            <a:ext cx="294977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=</a:t>
            </a:r>
            <a:endParaRPr lang="en-US" sz="3900" dirty="0"/>
          </a:p>
        </p:txBody>
      </p:sp>
      <p:sp>
        <p:nvSpPr>
          <p:cNvPr id="7" name="Text 5"/>
          <p:cNvSpPr txBox="1"/>
          <p:nvPr/>
        </p:nvSpPr>
        <p:spPr>
          <a:xfrm>
            <a:off x="354672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</a:t>
            </a:r>
            <a:endParaRPr lang="en-US" sz="4050" dirty="0"/>
          </a:p>
        </p:txBody>
      </p:sp>
      <p:sp>
        <p:nvSpPr>
          <p:cNvPr id="8" name="Text 6"/>
          <p:cNvSpPr txBox="1"/>
          <p:nvPr/>
        </p:nvSpPr>
        <p:spPr>
          <a:xfrm>
            <a:off x="464209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9" name="Text 7"/>
          <p:cNvSpPr txBox="1"/>
          <p:nvPr/>
        </p:nvSpPr>
        <p:spPr>
          <a:xfrm>
            <a:off x="5129808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735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O</a:t>
            </a:r>
            <a:endParaRPr lang="en-US" sz="4050" dirty="0"/>
          </a:p>
        </p:txBody>
      </p:sp>
      <p:sp>
        <p:nvSpPr>
          <p:cNvPr id="10" name="Text 8"/>
          <p:cNvSpPr txBox="1"/>
          <p:nvPr/>
        </p:nvSpPr>
        <p:spPr>
          <a:xfrm>
            <a:off x="625375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11" name="Text 9"/>
          <p:cNvSpPr txBox="1"/>
          <p:nvPr/>
        </p:nvSpPr>
        <p:spPr>
          <a:xfrm>
            <a:off x="671289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I</a:t>
            </a:r>
            <a:endParaRPr lang="en-US" sz="4050" dirty="0"/>
          </a:p>
        </p:txBody>
      </p:sp>
      <p:sp>
        <p:nvSpPr>
          <p:cNvPr id="12" name="Text 10"/>
          <p:cNvSpPr txBox="1"/>
          <p:nvPr/>
        </p:nvSpPr>
        <p:spPr>
          <a:xfrm>
            <a:off x="8284518" y="2064990"/>
            <a:ext cx="21383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8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맛 = 경험의 맛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84518" y="2274540"/>
            <a:ext cx="2138363" cy="682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3C는 재료, 양념은 손길,</a:t>
            </a:r>
            <a:endParaRPr lang="en-US" sz="2400" dirty="0"/>
          </a:p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ROI는 경험의 맛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953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나와 무슨 상관인가?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895350" y="4301728"/>
            <a:ext cx="3143250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'내 이야기'로 느끼는가. 공공의 성공은 얼마나 많은 사람이 자기 일로 받아들이느냐에 달렸다.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529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Originality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45529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했는가?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45529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본 듯한 현수막인가, 중랑만의 문장인가. 차별성이 없으면 스크롤에 묻힌다.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82105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경험이 달라졌는가?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82105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조회수가 아니라 행동과 일상의 변화. 신청이 늘었는가, 기다림이 줄었는가.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010275"/>
            <a:ext cx="429547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"셋 중 하나가 0이면, 맛이 나지 않습니다."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6448425" y="6129338"/>
            <a:ext cx="8106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 Output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640092" y="6129338"/>
            <a:ext cx="8645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Outtake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885634" y="6129338"/>
            <a:ext cx="9355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 Outcome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202168" y="6129338"/>
            <a:ext cx="7986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영향 Impact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153180" y="6129338"/>
            <a:ext cx="410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AMEC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2831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레시피 노트 원본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78522" y="490538"/>
            <a:ext cx="26576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1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 「디지털 커뮤니케이션」 강의안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레시피는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어제 만든 것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아닙니다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929634"/>
            <a:ext cx="9411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모델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665089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912888" y="4929634"/>
            <a:ext cx="1414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3C · 모래시계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넓게 조사하고(Research), 한 점으로 모으고(Concept), 다시 펼친다(Action Plan). 그 가운데 이미 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 · Channel · Consumer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있었습니다.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343650" y="4929634"/>
            <a:ext cx="15092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판독 공식 攻/守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891016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38815" y="4929634"/>
            <a:ext cx="1307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ROI 간 보기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4365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당사자의 연관성(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과거 사례와 확산성(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여론화와 재생산 가능성(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). 이슈를 가려내던 저울이 오늘 정책의 간을 봅니다.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741563" y="6124575"/>
            <a:ext cx="67658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현장에서 쓰고, 고치고, 다시 쓴 노트 — 했다는 것이 하겠다는 것의 증거입니다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⑤ TASTE · 징비록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간을 못 본 요리도 있었습니다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1637407"/>
            <a:ext cx="111823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성과만큼 실패도 기록합니다. R·O·I 가운데 하나가 0이 되자 좋은 요리도 식탁에서 사라졌습니다.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953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62050" y="2397472"/>
            <a:ext cx="141014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Relevance가 흔들릴 때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239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제돌이 방류 · 서울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2390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성급한 말 한 마디로 방류가 정치가 됐다. 그래도 제돌이는 바다로 돌아갔다. 메시지가 시민의 삶이 아니라 논쟁과 연결되면 맛이 변한다.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444817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14900" y="2397472"/>
            <a:ext cx="160942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9C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Impact가 지속되지 못할 때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47675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시민시장실 · 서울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7675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2017년 세계 최초의 디지털 시장실, CES 2020에도 소개됐다. 그러나 조례라는 대못을 박지 않았고, 시장이 바뀌자 이름도 쓰임도 바뀌었다.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447675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법 없이 만든 것은 법 없이 사라진다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2010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67750" y="2397472"/>
            <a:ext cx="14333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간은 한 번이 아니라 계속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3130897"/>
            <a:ext cx="3295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1,547명의 선언, 공공배달 점유율 전국 평균의 4배. 다르게 했고 숫자도 났다. 그런데 그것으로 충분했을까?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우리는 성공했지만, 실패했다</a:t>
            </a:r>
            <a:endParaRPr lang="en-US" sz="2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912739"/>
            <a:ext cx="4933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4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1분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331839"/>
            <a:ext cx="4933950" cy="82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18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오늘은 커뮤니케이션 요리를 이야기했습니다.</a:t>
            </a:r>
            <a:endParaRPr lang="en-US" sz="18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 정책도 같습니다.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32601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 있는 것을 </a:t>
            </a:r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보고,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75463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읽고,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8326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새롭게 연결하면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1188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경험이 달라집니다.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78534"/>
            <a:ext cx="3314105" cy="3329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혁신은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것을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다르게 하는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것이다.</a:t>
            </a:r>
            <a:endParaRPr lang="en-US" sz="5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1240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중랑이 차릴 식탁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95649" y="566738"/>
            <a:ext cx="40734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NEW CONNECTION,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경험격차에서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경험복지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까지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3342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73342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342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누구는 누리고 누군가는 못 누리는 경험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94694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294694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연결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94694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사람·공간·산업·기술, 행정과 민간을 잇는다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6061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516061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6061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자원을 다르게 설계해 일상에서 체감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7413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737413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경험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7413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기다림이 줄고, 이동이 편해지고, 소비가 즐거워진다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58780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958780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경험복지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58780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주민이 더 나은 경험을 누리는 도시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19150" y="3380036"/>
            <a:ext cx="75819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VISITOR JOURNEY — 중랑에서의 경험 여정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93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3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오는가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83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MOVE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83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이동하는가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74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발견하는가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64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64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해보는가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3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MAKE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3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만드는가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283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SPEND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83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 소비하는가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74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SHARE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74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남기는가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64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RETURN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64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다시 오는가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19150" y="5924550"/>
            <a:ext cx="75819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"방문이 끝이 아니라, 순환의 시작입니다."</a:t>
            </a:r>
            <a:endParaRPr lang="en-US" sz="2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239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4135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반전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34443" y="528638"/>
            <a:ext cx="21688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 IS NOT ENOUGH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71500" y="971550"/>
            <a:ext cx="57721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질문의 시대에서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D2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맥락의 시대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2238375"/>
            <a:ext cx="5772150" cy="922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커뮤니케이션은 말을 잘하는 기술이 아니었습니다. </a:t>
            </a:r>
            <a:pPr algn="l" indent="0" marL="0">
              <a:lnSpc>
                <a:spcPts val="242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상대와 상황을 이해하는 일</a:t>
            </a:r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이었습니다. AI도 마찬가지입니다. 프롬프트 한 줄보다, AI에게 </a:t>
            </a:r>
            <a:pPr algn="l" indent="0" marL="0">
              <a:lnSpc>
                <a:spcPts val="242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맥락을 건네느냐</a:t>
            </a:r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답을 바꿉니다.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42950" y="3466058"/>
            <a:ext cx="542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양념의 소금이던 CONTEXT가, 이제 주방 전체가 됩니다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42950" y="3713708"/>
            <a:ext cx="5429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잘 쓰는 조직은 질문을 잘하는 조직이 아니라,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맥락이 잘 쌓이고, 잘 찾아지고, 잘 연결되는 조직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71500" y="5676900"/>
            <a:ext cx="57721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>
                <a:solidFill>
                  <a:srgbClr val="FFD2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행정에는 이미 가장 귀한 맥락이 있습니다.</a:t>
            </a:r>
            <a:endParaRPr lang="en-US" sz="3000" dirty="0"/>
          </a:p>
          <a:p>
            <a:pPr algn="l" indent="0" marL="0">
              <a:lnSpc>
                <a:spcPts val="3450"/>
              </a:lnSpc>
              <a:buNone/>
            </a:pPr>
            <a:r>
              <a:rPr lang="en-US" sz="3000" dirty="0">
                <a:solidFill>
                  <a:srgbClr val="FFD2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주민의 삶입니다.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667500" y="5905500"/>
            <a:ext cx="5010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Philipp Schmid, "The New Skill in AI is Context Engineering"(2025.6.30) · Anthropic, "Effective context engineering for AI agents"(2025.9) · Google Cloud, "What is AI context engineering?"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79135" y="3724275"/>
            <a:ext cx="929729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30"/>
              </a:lnSpc>
              <a:buNone/>
            </a:pPr>
            <a:r>
              <a:rPr lang="en-US" sz="1500" b="1" dirty="0">
                <a:solidFill>
                  <a:srgbClr val="14135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875955" y="676275"/>
            <a:ext cx="253609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10"/>
              </a:lnSpc>
              <a:buNone/>
            </a:pPr>
            <a:r>
              <a:rPr lang="en-US" sz="158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삶 · 중랑의 경험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8296282" y="1257300"/>
            <a:ext cx="169543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 · 업무 시스템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228759" y="1828800"/>
            <a:ext cx="1830482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· 데이터 · 검색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398825" y="2400300"/>
            <a:ext cx="14903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기억 · 과거 결정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330688" y="3028950"/>
            <a:ext cx="1630717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지시 · 규칙 · 철학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270937" y="4400550"/>
            <a:ext cx="1746126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90"/>
              </a:lnSpc>
              <a:buNone/>
            </a:pPr>
            <a:r>
              <a:rPr lang="en-US" sz="113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질문은 가장 작은 한 겹</a:t>
            </a:r>
            <a:endParaRPr lang="en-US" sz="113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1376660"/>
            <a:ext cx="188029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3213795" y="1376660"/>
            <a:ext cx="180602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1871960"/>
            <a:ext cx="6915150" cy="179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060"/>
              </a:lnSpc>
              <a:buNone/>
            </a:pPr>
            <a:r>
              <a:rPr lang="en-US" sz="6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새로운 연결,</a:t>
            </a:r>
            <a:endParaRPr lang="en-US" sz="6300" dirty="0"/>
          </a:p>
          <a:p>
            <a:pPr algn="l" indent="0" marL="0">
              <a:lnSpc>
                <a:spcPts val="7060"/>
              </a:lnSpc>
              <a:buNone/>
            </a:pPr>
            <a:r>
              <a:rPr lang="en-US" sz="6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경험.</a:t>
            </a:r>
            <a:endParaRPr lang="en-US" sz="63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911798"/>
            <a:ext cx="6915150" cy="817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경험을 바꾸는 것이 행정의 일이고,</a:t>
            </a:r>
            <a:endParaRPr lang="en-US" sz="1950" dirty="0"/>
          </a:p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경험을 디자인하는 것이 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우리의 일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95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052715"/>
            <a:ext cx="148128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감사합니다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614761" y="5076527"/>
            <a:ext cx="356815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 김현성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679085" y="6315075"/>
            <a:ext cx="40557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· JUNGNANG NEXT STANDARD</a:t>
            </a:r>
            <a:endParaRPr lang="en-US" sz="11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정책셰프의 레시피 — 20분 본편</dc:title>
  <dc:subject>PptxGenJS Presentation</dc:subject>
  <dc:creator>김현성</dc:creator>
  <cp:lastModifiedBy>김현성</cp:lastModifiedBy>
  <cp:revision>1</cp:revision>
  <dcterms:created xsi:type="dcterms:W3CDTF">2026-09-30T11:08:33Z</dcterms:created>
  <dcterms:modified xsi:type="dcterms:W3CDTF">2026-09-30T11:08:33Z</dcterms:modified>
</cp:coreProperties>
</file>