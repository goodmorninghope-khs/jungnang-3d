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video" Target="../media/media-13-2.mp4"/><Relationship Id="rId3" Type="http://schemas.microsoft.com/office/2007/relationships/media" Target="../media/media-13-2.mp4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714375"/>
            <a:ext cx="501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spc="7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중랑구 직원특강 · </a:t>
            </a:r>
            <a:pPr algn="l" indent="0" marL="0">
              <a:lnSpc>
                <a:spcPts val="2400"/>
              </a:lnSpc>
              <a:buNone/>
            </a:pPr>
            <a:r>
              <a:rPr lang="en-US" sz="1650" b="1" spc="7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레시피</a:t>
            </a:r>
            <a:endParaRPr lang="en-US" sz="1650" dirty="0"/>
          </a:p>
        </p:txBody>
      </p:sp>
      <p:sp>
        <p:nvSpPr>
          <p:cNvPr id="3" name="Text 1"/>
          <p:cNvSpPr txBox="1"/>
          <p:nvPr/>
        </p:nvSpPr>
        <p:spPr>
          <a:xfrm>
            <a:off x="838200" y="2125414"/>
            <a:ext cx="10572750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6900" spc="-70" kern="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맛있는 커뮤니케이션에는</a:t>
            </a:r>
            <a:endParaRPr lang="en-US" sz="6900" dirty="0"/>
          </a:p>
          <a:p>
            <a:pPr algn="l" indent="0" marL="0">
              <a:lnSpc>
                <a:spcPts val="7450"/>
              </a:lnSpc>
              <a:buNone/>
            </a:pPr>
            <a:r>
              <a:rPr lang="en-US" sz="6900" spc="-70" kern="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레시피가 있다</a:t>
            </a:r>
            <a:endParaRPr lang="en-US" sz="6900" dirty="0"/>
          </a:p>
        </p:txBody>
      </p:sp>
      <p:sp>
        <p:nvSpPr>
          <p:cNvPr id="4" name="Text 2"/>
          <p:cNvSpPr txBox="1"/>
          <p:nvPr/>
        </p:nvSpPr>
        <p:spPr>
          <a:xfrm>
            <a:off x="1333500" y="4227761"/>
            <a:ext cx="633397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정책을 알리는 행정에서, 경험을 디자인하는 행정으로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38200" y="5495925"/>
            <a:ext cx="395019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뜻과 땀으로 때를 짓는 정책셰프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5972175"/>
            <a:ext cx="39501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중랑구 정책보좌관(정책실장) </a:t>
            </a:r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김현성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76108" y="5695950"/>
            <a:ext cx="37348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spc="16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JUNGNANG AX2030 · NEXT STANDARD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448181" y="6000750"/>
            <a:ext cx="962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2026. 10. 1.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6700" y="5869484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100" kern="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6월 · 광주 송정역 골목, 떡갈비집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66700" y="6117134"/>
            <a:ext cx="4286250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"소버린 AI요? 우린 그런 거 몰라요. 그냥 </a:t>
            </a:r>
            <a:pPr algn="l" indent="0" marL="0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</a:t>
            </a:r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아니길 바랄 뿐이죠."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48300" y="552450"/>
            <a:ext cx="4778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35737" y="566738"/>
            <a:ext cx="1571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WHO IS THE CHEF</a:t>
            </a:r>
            <a:endParaRPr lang="en-US" sz="1130" dirty="0"/>
          </a:p>
        </p:txBody>
      </p:sp>
      <p:sp>
        <p:nvSpPr>
          <p:cNvPr id="6" name="Text 4"/>
          <p:cNvSpPr txBox="1"/>
          <p:nvPr/>
        </p:nvSpPr>
        <p:spPr>
          <a:xfrm>
            <a:off x="5295900" y="1028700"/>
            <a:ext cx="63436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뜻과 땀으로 때를 짓는</a:t>
            </a:r>
            <a:endParaRPr lang="en-US" sz="3750" dirty="0"/>
          </a:p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정책셰프</a:t>
            </a:r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김현성</a:t>
            </a:r>
            <a:endParaRPr lang="en-US" sz="3750" dirty="0"/>
          </a:p>
        </p:txBody>
      </p:sp>
      <p:sp>
        <p:nvSpPr>
          <p:cNvPr id="7" name="Text 5"/>
          <p:cNvSpPr txBox="1"/>
          <p:nvPr/>
        </p:nvSpPr>
        <p:spPr>
          <a:xfrm>
            <a:off x="5295900" y="2314575"/>
            <a:ext cx="6343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실학자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현장에서 답을 찾는다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295900" y="2628900"/>
            <a:ext cx="6343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경험디자이너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새로운 연결, 다른 경험을 짓는다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228975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27년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667125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정책과 골목 현장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228975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30억 건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667125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올빼미버스를 만든 통화 데이터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2862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B45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5만 4천 명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4724400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디지털 전환을 건넌 사장님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42862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1,547명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4724400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독립선언에 이름을 올린 사장님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5505450" y="5951339"/>
            <a:ext cx="327287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했다는 것으로, 하겠다는 것을 증거한다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14350"/>
            <a:ext cx="11636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27년 레시피 노트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059037" y="528638"/>
            <a:ext cx="2352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FROM THE FIELD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71550"/>
            <a:ext cx="11182350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질문을 들고 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골목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돌아다녔다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1999~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33400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광고인 · 금강기획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7700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금연광고 「자학」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7700" y="2951857"/>
            <a:ext cx="133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대 피우는 중이군요." 대한민국광고대상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23900" y="5581650"/>
            <a:ext cx="10047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· CAMPAIGN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2136279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136279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공공커뮤니케이션연구소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50579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1트윗 = 1원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50579" y="2951857"/>
            <a:ext cx="133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 달, 600여 명, 800만 원. 문턱 낮은 나눔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2326779" y="5581650"/>
            <a:ext cx="1130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SEASONING · NUDGE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3739158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2011–2017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39158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최초·최연소 디지털보좌관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853458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3458" y="2951857"/>
            <a:ext cx="133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 10만 명, 180일. 기본계획을 함께 썼다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3929658" y="5429250"/>
            <a:ext cx="11837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INGREDIENT · COMMUNITY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5342037" y="1637407"/>
            <a:ext cx="1564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2013.9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42037" y="1904107"/>
            <a:ext cx="15649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56337" y="2666107"/>
            <a:ext cx="1336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56337" y="2951857"/>
            <a:ext cx="13363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제안 0건. 통화 30억 건이 그은 9개 노선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5532537" y="5429250"/>
            <a:ext cx="1183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SEASONING · INSIGHT</a:t>
            </a:r>
            <a:endParaRPr lang="en-US" sz="830" dirty="0"/>
          </a:p>
        </p:txBody>
      </p:sp>
      <p:sp>
        <p:nvSpPr>
          <p:cNvPr id="25" name="Text 23"/>
          <p:cNvSpPr txBox="1"/>
          <p:nvPr/>
        </p:nvSpPr>
        <p:spPr>
          <a:xfrm>
            <a:off x="6945064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2020–2023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945064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중소기업유통센터 초대 소상공인디지털본부장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059364" y="2666107"/>
            <a:ext cx="1336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하이파이브 · 소담스퀘어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59364" y="3180457"/>
            <a:ext cx="133617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 5만 4천 명. 가장 좋은 강사는 떡볶이집 사장님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7135564" y="5429250"/>
            <a:ext cx="11837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· STORYTELLING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8547943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2023–2025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547943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광주경제진흥상생일자리재단 초대 대표이사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662243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62243" y="2951857"/>
            <a:ext cx="133617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 1,547명. 공공배달 점유율 전국 평균의 4배 넘어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8738443" y="5429250"/>
            <a:ext cx="11837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· ISSUE FIGHTING</a:t>
            </a:r>
            <a:endParaRPr lang="en-US" sz="830" dirty="0"/>
          </a:p>
        </p:txBody>
      </p:sp>
      <p:sp>
        <p:nvSpPr>
          <p:cNvPr id="35" name="Text 33"/>
          <p:cNvSpPr txBox="1"/>
          <p:nvPr/>
        </p:nvSpPr>
        <p:spPr>
          <a:xfrm>
            <a:off x="10150822" y="1637407"/>
            <a:ext cx="1564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 —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50822" y="1904107"/>
            <a:ext cx="15649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중랑구 정책보좌관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265122" y="2666107"/>
            <a:ext cx="1336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 AX 1번지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265122" y="2951857"/>
            <a:ext cx="13363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공공이 먼저 AI를 부려야 골목에 건넬 수 있다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10341322" y="5581650"/>
            <a:ext cx="596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 · AI</a:t>
            </a:r>
            <a:endParaRPr lang="en-US" sz="830" dirty="0"/>
          </a:p>
        </p:txBody>
      </p:sp>
      <p:sp>
        <p:nvSpPr>
          <p:cNvPr id="40" name="Text 38"/>
          <p:cNvSpPr txBox="1"/>
          <p:nvPr/>
        </p:nvSpPr>
        <p:spPr>
          <a:xfrm>
            <a:off x="809625" y="6200775"/>
            <a:ext cx="822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 · 징비록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822847" y="6174581"/>
            <a:ext cx="916721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성공만 적지 않았다. 이름도 쓰임도 바뀐 디지털 시민시장실, 정치가 된 제돌이 방류, "우리는 성공했지만 실패했다"는 광주 — 실패도 레시피 노트에 적었다.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9175" y="885974"/>
            <a:ext cx="1270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spc="110" kern="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먼저, 질문 하나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838200" y="1486049"/>
            <a:ext cx="5048250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왜 남이 끓여준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라면이 더 맛있을까?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3154710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스프를 먼저 넣느냐, 면을 먼저 넣느냐?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38200" y="3840510"/>
            <a:ext cx="50482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화력일까, 물의 양일까, 넣는 순서일까.</a:t>
            </a:r>
            <a:endParaRPr lang="en-US" sz="158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4255740"/>
            <a:ext cx="50482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봉지, 같은 면인데 맛이 다른 이유는</a:t>
            </a:r>
            <a:endParaRPr lang="en-US" sz="158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있습니다.</a:t>
            </a:r>
            <a:endParaRPr lang="en-US" sz="158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5333851"/>
            <a:ext cx="104596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무엇을(What)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93615" y="5333851"/>
            <a:ext cx="318328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장면에서, 어떻게(How) 경험하게 하는가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49657" y="5580875"/>
            <a:ext cx="2683983" cy="7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60"/>
              </a:lnSpc>
              <a:buNone/>
            </a:pPr>
            <a:r>
              <a:rPr lang="en-US" sz="30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한강에서 먹는 그 라면!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76250"/>
            <a:ext cx="1033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그리고, 질문 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852612" y="490538"/>
            <a:ext cx="1487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GAP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3450"/>
            <a:ext cx="3771900" cy="88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우리는 열심히 알렸는데,</a:t>
            </a:r>
            <a:endParaRPr lang="en-US" sz="2850" dirty="0"/>
          </a:p>
          <a:p>
            <a:pPr algn="l" indent="0" marL="0">
              <a:lnSpc>
                <a:spcPts val="348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왜 주민은 </a:t>
            </a:r>
            <a:pPr algn="l" indent="0" marL="0">
              <a:lnSpc>
                <a:spcPts val="3480"/>
              </a:lnSpc>
              <a:buNone/>
            </a:pPr>
            <a:r>
              <a:rPr lang="en-US" sz="28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모를까요?</a:t>
            </a:r>
            <a:endParaRPr lang="en-US" sz="285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2183309"/>
            <a:ext cx="991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행정이 한 일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976438" y="2140446"/>
            <a:ext cx="4001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≠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2733377" y="2183309"/>
            <a:ext cx="13241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주민이 경험한 일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07196"/>
            <a:ext cx="3771900" cy="7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2E2C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주민은 어젯밤 앱에서 겪은 경험을 들고 오늘 아침 구청 문을 엽니다. 비교 대상은 어제의 구청이 아니라 </a:t>
            </a:r>
            <a:pPr algn="l" indent="0" marL="0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2E2C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어젯밤의 앱</a:t>
            </a:r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2E2C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8650" y="5705475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"전자정부 지수 세계 1위. 시스템은 1등인데,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시민의 삶도 1등인가?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628650" y="6219825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김현성, 「디지털 징비록」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610100" y="571500"/>
            <a:ext cx="30426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소비자가 올려놓은 기대 vs 행정이 건넨 경험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9360396" y="619125"/>
            <a:ext cx="1082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━ 민간 서비스 경험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10519023" y="619125"/>
            <a:ext cx="1082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━ 행정 서비스 경험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4610100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2010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카카오톡 · 배달의민족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367463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2014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쿠팡 로켓배송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24825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2015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토스 간편송금 · 새벽배송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82188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2016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넷플릭스 국내 서비스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610100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2020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비대면의 일상화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67463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2022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ChatGPT 등장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124825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Ⓐ 2017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정부24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882188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Ⓑ 2021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국민비서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10100" y="3977580"/>
            <a:ext cx="2342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벌어졌을까? — 격차의 네 가지 원인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10534204" y="4015680"/>
            <a:ext cx="10672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김현성 「경험격차론」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4743450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속도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743450" y="4711005"/>
            <a:ext cx="145256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소비자의 목소리로 매일 고치고, 행정은 형평성으로 신중하게 움직입니다.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00813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목표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00813" y="4711005"/>
            <a:ext cx="1452563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기업은 고객의 만족을, 행정은 공공의 가치인 공정성·책임성을 우선합니다.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58175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B533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제약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58175" y="4711005"/>
            <a:ext cx="1452563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법·절차·예산 등 행정의 구조적 제약이 변화를 더디게 합니다.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15538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커진 개인의 권력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0015538" y="4711005"/>
            <a:ext cx="145256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비대칭이 풀리자 소비자가 생산에 참여했고, 개인의 권력이 커졌습니다.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088837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</a:t>
            </a:r>
            <a:endParaRPr lang="en-US" sz="810" dirty="0"/>
          </a:p>
        </p:txBody>
      </p:sp>
      <p:sp>
        <p:nvSpPr>
          <p:cNvPr id="33" name="Text 31"/>
          <p:cNvSpPr txBox="1"/>
          <p:nvPr/>
        </p:nvSpPr>
        <p:spPr>
          <a:xfrm>
            <a:off x="6554684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810" dirty="0"/>
          </a:p>
        </p:txBody>
      </p:sp>
      <p:sp>
        <p:nvSpPr>
          <p:cNvPr id="34" name="Text 32"/>
          <p:cNvSpPr txBox="1"/>
          <p:nvPr/>
        </p:nvSpPr>
        <p:spPr>
          <a:xfrm>
            <a:off x="7649759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810" dirty="0"/>
          </a:p>
        </p:txBody>
      </p:sp>
      <p:sp>
        <p:nvSpPr>
          <p:cNvPr id="35" name="Text 33"/>
          <p:cNvSpPr txBox="1"/>
          <p:nvPr/>
        </p:nvSpPr>
        <p:spPr>
          <a:xfrm>
            <a:off x="9115606" y="3099635"/>
            <a:ext cx="4582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</a:t>
            </a:r>
            <a:endParaRPr lang="en-US" sz="810" dirty="0"/>
          </a:p>
        </p:txBody>
      </p:sp>
      <p:sp>
        <p:nvSpPr>
          <p:cNvPr id="36" name="Text 34"/>
          <p:cNvSpPr txBox="1"/>
          <p:nvPr/>
        </p:nvSpPr>
        <p:spPr>
          <a:xfrm>
            <a:off x="10952227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810" dirty="0"/>
          </a:p>
        </p:txBody>
      </p:sp>
      <p:sp>
        <p:nvSpPr>
          <p:cNvPr id="37" name="Text 35"/>
          <p:cNvSpPr txBox="1"/>
          <p:nvPr/>
        </p:nvSpPr>
        <p:spPr>
          <a:xfrm>
            <a:off x="5172106" y="2659881"/>
            <a:ext cx="29170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10" dirty="0"/>
          </a:p>
        </p:txBody>
      </p:sp>
      <p:sp>
        <p:nvSpPr>
          <p:cNvPr id="38" name="Text 36"/>
          <p:cNvSpPr txBox="1"/>
          <p:nvPr/>
        </p:nvSpPr>
        <p:spPr>
          <a:xfrm>
            <a:off x="6637954" y="2228750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10" dirty="0"/>
          </a:p>
        </p:txBody>
      </p:sp>
      <p:sp>
        <p:nvSpPr>
          <p:cNvPr id="39" name="Text 37"/>
          <p:cNvSpPr txBox="1"/>
          <p:nvPr/>
        </p:nvSpPr>
        <p:spPr>
          <a:xfrm>
            <a:off x="7000104" y="2099410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10" dirty="0"/>
          </a:p>
        </p:txBody>
      </p:sp>
      <p:sp>
        <p:nvSpPr>
          <p:cNvPr id="40" name="Text 38"/>
          <p:cNvSpPr txBox="1"/>
          <p:nvPr/>
        </p:nvSpPr>
        <p:spPr>
          <a:xfrm>
            <a:off x="7370877" y="1995939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10" dirty="0"/>
          </a:p>
        </p:txBody>
      </p:sp>
      <p:sp>
        <p:nvSpPr>
          <p:cNvPr id="41" name="Text 39"/>
          <p:cNvSpPr txBox="1"/>
          <p:nvPr/>
        </p:nvSpPr>
        <p:spPr>
          <a:xfrm>
            <a:off x="8836725" y="1538939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10" dirty="0"/>
          </a:p>
        </p:txBody>
      </p:sp>
      <p:sp>
        <p:nvSpPr>
          <p:cNvPr id="42" name="Text 40"/>
          <p:cNvSpPr txBox="1"/>
          <p:nvPr/>
        </p:nvSpPr>
        <p:spPr>
          <a:xfrm>
            <a:off x="9569648" y="1323373"/>
            <a:ext cx="29527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810" dirty="0"/>
          </a:p>
        </p:txBody>
      </p:sp>
      <p:sp>
        <p:nvSpPr>
          <p:cNvPr id="43" name="Text 41"/>
          <p:cNvSpPr txBox="1"/>
          <p:nvPr/>
        </p:nvSpPr>
        <p:spPr>
          <a:xfrm>
            <a:off x="7720898" y="2659881"/>
            <a:ext cx="3143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810" dirty="0"/>
          </a:p>
        </p:txBody>
      </p:sp>
      <p:sp>
        <p:nvSpPr>
          <p:cNvPr id="44" name="Text 42"/>
          <p:cNvSpPr txBox="1"/>
          <p:nvPr/>
        </p:nvSpPr>
        <p:spPr>
          <a:xfrm>
            <a:off x="9194410" y="2513297"/>
            <a:ext cx="3048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810" dirty="0"/>
          </a:p>
        </p:txBody>
      </p:sp>
      <p:sp>
        <p:nvSpPr>
          <p:cNvPr id="45" name="Text 43"/>
          <p:cNvSpPr txBox="1"/>
          <p:nvPr/>
        </p:nvSpPr>
        <p:spPr>
          <a:xfrm>
            <a:off x="9630424" y="1705577"/>
            <a:ext cx="11542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90"/>
              </a:lnSpc>
              <a:buNone/>
            </a:pPr>
            <a:r>
              <a:rPr lang="en-US" sz="1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경험격차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9310802" y="2047674"/>
            <a:ext cx="147390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8E1F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불편과 불신이 자라는 자리</a:t>
            </a:r>
            <a:endParaRPr lang="en-US" sz="8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050" y="438150"/>
            <a:ext cx="670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경험격차론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66700" y="857250"/>
            <a:ext cx="19621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행정도</a:t>
            </a:r>
            <a:endParaRPr lang="en-US" sz="2250" dirty="0"/>
          </a:p>
          <a:p>
            <a:pPr algn="l" indent="0" marL="0">
              <a:lnSpc>
                <a:spcPts val="281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한때는</a:t>
            </a:r>
            <a:endParaRPr lang="en-US" sz="2250" dirty="0"/>
          </a:p>
          <a:p>
            <a:pPr algn="l" indent="0" marL="0">
              <a:lnSpc>
                <a:spcPts val="281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혁신이었다</a:t>
            </a:r>
            <a:endParaRPr lang="en-US" sz="2250" dirty="0"/>
          </a:p>
        </p:txBody>
      </p:sp>
      <p:sp>
        <p:nvSpPr>
          <p:cNvPr id="4" name="Text 2"/>
          <p:cNvSpPr txBox="1"/>
          <p:nvPr/>
        </p:nvSpPr>
        <p:spPr>
          <a:xfrm>
            <a:off x="266700" y="2100263"/>
            <a:ext cx="1962150" cy="109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관료제도, 효율의 시대도 한때는 민간이 배우던 혁신이었습니다. 2000년대 이후 정보 비대칭이 풀리며 소비자의 권력이 커졌고, 행정은 뒤따랐습니다.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66700" y="5657850"/>
            <a:ext cx="1962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Golden Cross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266700" y="5895975"/>
            <a:ext cx="19621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경험의 역전, 이번엔 행정이 앞설 차례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14350"/>
            <a:ext cx="800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육수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72543" y="528638"/>
            <a:ext cx="38038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RECIPE OF DELICIOUS COMMUNICATION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971550"/>
            <a:ext cx="11029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18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커뮤니케이션은 메시지를 보내는 기술이 아니라,</a:t>
            </a:r>
            <a:endParaRPr lang="en-US" sz="1880" dirty="0"/>
          </a:p>
          <a:p>
            <a:pPr algn="l" indent="0" marL="0">
              <a:lnSpc>
                <a:spcPts val="2810"/>
              </a:lnSpc>
              <a:buNone/>
            </a:pPr>
            <a:r>
              <a:rPr lang="en-US" sz="18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사람·콘텐츠·채널·커뮤니티를 새롭게 연결해 다른 경험을 만드는 디자인</a:t>
            </a:r>
            <a:pPr algn="l" indent="0" marL="0">
              <a:lnSpc>
                <a:spcPts val="2810"/>
              </a:lnSpc>
              <a:buNone/>
            </a:pPr>
            <a:r>
              <a:rPr lang="en-US" sz="18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endParaRPr lang="en-US" sz="1880" dirty="0"/>
          </a:p>
        </p:txBody>
      </p:sp>
      <p:sp>
        <p:nvSpPr>
          <p:cNvPr id="5" name="Text 3"/>
          <p:cNvSpPr txBox="1"/>
          <p:nvPr/>
        </p:nvSpPr>
        <p:spPr>
          <a:xfrm>
            <a:off x="990600" y="1762125"/>
            <a:ext cx="32617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 DESIGN · 새로운 연결 = 요리법 자체</a:t>
            </a:r>
            <a:endParaRPr lang="en-US" sz="1130" dirty="0"/>
          </a:p>
        </p:txBody>
      </p:sp>
      <p:sp>
        <p:nvSpPr>
          <p:cNvPr id="6" name="Text 4"/>
          <p:cNvSpPr txBox="1"/>
          <p:nvPr/>
        </p:nvSpPr>
        <p:spPr>
          <a:xfrm>
            <a:off x="933450" y="22574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목적을 고른다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438400"/>
            <a:ext cx="18325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3450" y="2924175"/>
            <a:ext cx="1832521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51530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하려는가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3070771" y="22574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3C2A를 준비한다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070771" y="2438400"/>
            <a:ext cx="18326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INGREDIENT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70771" y="3776662"/>
            <a:ext cx="18326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AGENDA</a:t>
            </a:r>
            <a:endParaRPr lang="en-US" sz="98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AUTHORITY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3070771" y="51530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무엇으로 만드는가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5208240" y="22574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5가지 맛을 더한다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5208240" y="2438400"/>
            <a:ext cx="18325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08240" y="2924175"/>
            <a:ext cx="1832521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× FRAME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CONTEXT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INSIGHT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NUDGE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5208240" y="51530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다르게 만드는가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345561" y="22574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조리한다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7345561" y="2438400"/>
            <a:ext cx="18326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45561" y="2924175"/>
            <a:ext cx="183267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DATA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AI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7345561" y="51530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칼·냄비·불</a:t>
            </a:r>
            <a:endParaRPr lang="en-US" sz="980" dirty="0"/>
          </a:p>
        </p:txBody>
      </p:sp>
      <p:sp>
        <p:nvSpPr>
          <p:cNvPr id="22" name="Text 20"/>
          <p:cNvSpPr txBox="1"/>
          <p:nvPr/>
        </p:nvSpPr>
        <p:spPr>
          <a:xfrm>
            <a:off x="9483030" y="22574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간을 본다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9483030" y="2438400"/>
            <a:ext cx="18325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 · ROI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83030" y="2924175"/>
            <a:ext cx="183252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RELEVANCE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ORIGINALITY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IMPACT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9483030" y="51530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맛이 나는가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2295227" y="5819775"/>
            <a:ext cx="161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DESIGN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02137" y="5715000"/>
            <a:ext cx="638978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DIFFERENT EXPERIENCE · 주민의 경험이 달라진다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2030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1 · 오늘 무슨 메뉴입니까?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78659" y="604838"/>
            <a:ext cx="15847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01 · MENU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3912691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①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메뉴를 고르다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240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무엇을 하려는 커뮤니케이션인가?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386929"/>
            <a:ext cx="4533900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목적이 다르면 요리가 다릅니다.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브랜딩을 캠페인처럼 하면 안 되고, 네트워킹에선 조회수보다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누구와 연결됐는지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중요합니다.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브랜드도 '선언'에서 삶·커뮤니티 속 '참여'로 — Edelman 2025 Brand Trust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725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7250" y="3609975"/>
            <a:ext cx="1771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"우리는 누구인가?"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자랑, 우리 중랑 — 정체성을 한 문장으로.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304800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4800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문제로 만들 것인가?"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304800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않던 불편을 의제로 끌어올린다.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523875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3875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행동을 만들어낼 것인가?"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523875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아니라 행동의 변화가 목표다.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742950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2950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기억하게 할 것인가?"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742950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숫자는 잊혀도 장면과 사람은 남는다.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962025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2025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"누구와 관계를 만들 것인가?"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962025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주민·상인·기관을 한 식탁에 앉힌다.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3481239" y="6010275"/>
            <a:ext cx="52865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상황에 맞는 메뉴가 맛있는 커뮤니케이션의 시작입니다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14350"/>
            <a:ext cx="1770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① MENU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666256" y="528638"/>
            <a:ext cx="2579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THE CHEF'S NOTEBOOK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71550"/>
            <a:ext cx="11182350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다섯 가지 메뉴, 제가 직접 끓여 본 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D645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다섯 그릇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대통령 PI 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1176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60" kern="0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MSAVN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784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김대중 대통령의 평양 방문을 준비했다. 한 사람의 모습이 한 나라의 메시지가 되는 일.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516910"/>
            <a:ext cx="1885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3437D8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보이는 모든 것은 해석된다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337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29337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 · 광주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33700" y="24117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수수료를 '어쩔 수 없는 것'에서 '공정의 문제'로. 사장님 1,547명이 선언했다.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816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51816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금연광고 「자학」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181600" y="2411760"/>
            <a:ext cx="1885950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카페에서 한 여성이 얼굴을 테이블에 비빈다. 카피는 한 줄. 공익광고로는 드물게 대한민국광고대상.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248275" y="54673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대 피우는 중이군요."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295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4295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소담스퀘어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29500" y="24117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이름부터 '사장님 이야기를 담는 곳'. 가장 좋은 강사는 떡볶이집 사장님이었다.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29500" y="5242620"/>
            <a:ext cx="188595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B45E8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소상공인 교육은 소상공인 이야기가 강사다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6774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980" dirty="0"/>
          </a:p>
        </p:txBody>
      </p:sp>
      <p:sp>
        <p:nvSpPr>
          <p:cNvPr id="22" name="Text 20"/>
          <p:cNvSpPr txBox="1"/>
          <p:nvPr/>
        </p:nvSpPr>
        <p:spPr>
          <a:xfrm>
            <a:off x="96774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 · 서울시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677400" y="24117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정책의 '정'을 '청'으로. 청책토론회만 150번. 트위터 한 줄 민원이 그해의 우수정책이 됐다.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677400" y="5516910"/>
            <a:ext cx="1885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2E7D4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듣는 것이 정책이다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608362" y="6115050"/>
            <a:ext cx="70324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메뉴가 달랐기에 요리법도 달랐습니다 — 같은 방법으로 끓인 그릇은 하나도 없었습니다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81000"/>
            <a:ext cx="2472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① MENU × 세 현장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291185" y="395288"/>
            <a:ext cx="2528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DISHES FROM 3 KITCHENS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2950"/>
            <a:ext cx="61830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해봤더니 — 다섯 메뉴, 세 주방, </a:t>
            </a:r>
            <a:pPr algn="l" indent="0" marL="0">
              <a:lnSpc>
                <a:spcPts val="3280"/>
              </a:lnSpc>
              <a:buNone/>
            </a:pPr>
            <a:r>
              <a:rPr lang="en-US" sz="2850" dirty="0">
                <a:solidFill>
                  <a:srgbClr val="D645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열다섯 그릇</a:t>
            </a:r>
            <a:endParaRPr lang="en-US" sz="2850" dirty="0"/>
          </a:p>
        </p:txBody>
      </p:sp>
      <p:sp>
        <p:nvSpPr>
          <p:cNvPr id="5" name="Text 3"/>
          <p:cNvSpPr txBox="1"/>
          <p:nvPr/>
        </p:nvSpPr>
        <p:spPr>
          <a:xfrm>
            <a:off x="9561314" y="570012"/>
            <a:ext cx="21734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김현성, 『소상공인을 버린 AI』(2026)</a:t>
            </a:r>
            <a:endParaRPr lang="en-US" sz="9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6장 서울 · 7장 중기유통센터 · 8장 광주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076450" y="1459409"/>
            <a:ext cx="30161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</a:t>
            </a:r>
            <a:pPr algn="l" indent="0" marL="0">
              <a:lnSpc>
                <a:spcPts val="1880"/>
              </a:lnSpc>
              <a:buNone/>
            </a:pPr>
            <a:r>
              <a:rPr lang="en-US" sz="98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2011–2017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2076450" y="1697534"/>
            <a:ext cx="3016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최초·최연소 디지털보좌관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359301" y="1459409"/>
            <a:ext cx="3016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중소기업유통센터 </a:t>
            </a:r>
            <a:pPr algn="l" indent="0" marL="0">
              <a:lnSpc>
                <a:spcPts val="1880"/>
              </a:lnSpc>
              <a:buNone/>
            </a:pPr>
            <a:r>
              <a:rPr lang="en-US" sz="98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2020–2023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5359301" y="1697534"/>
            <a:ext cx="3016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초대 소상공인디지털본부장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42300" y="1459409"/>
            <a:ext cx="30161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 </a:t>
            </a:r>
            <a:pPr algn="l" indent="0" marL="0">
              <a:lnSpc>
                <a:spcPts val="1880"/>
              </a:lnSpc>
              <a:buNone/>
            </a:pPr>
            <a:r>
              <a:rPr lang="en-US" sz="98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2023–2025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8642300" y="1697534"/>
            <a:ext cx="3016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경제진흥상생일자리재단 초대 대표이사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2303859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571500" y="2503884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누구인가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076450" y="2288679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청책(聽策)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2076450" y="2507754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'정'을 '청'으로 — 시민 10만 명을 만난 이름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5359301" y="2288679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소담스퀘어 · 소담상회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5359301" y="2507754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이름보다 더 유명해진 브랜드, 전국 6곳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8642300" y="2288679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지산D소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8642300" y="2507754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지산지소의 '지(地)'를 D로 — 한 글자로 지은 정책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571500" y="3125391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571500" y="3325416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문제로 만들까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076450" y="3110210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2076450" y="3329285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신청 0명, 통화량 데이터 30억 건이 그은 9개 노선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5359301" y="3110210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13억 건 키워드 백서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5359301" y="3329285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사장님에게 디지털은 기회가 아니라 '공포'였다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8642300" y="3110210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</a:t>
            </a:r>
            <a:endParaRPr lang="en-US" sz="1130" dirty="0"/>
          </a:p>
        </p:txBody>
      </p:sp>
      <p:sp>
        <p:nvSpPr>
          <p:cNvPr id="27" name="Text 25"/>
          <p:cNvSpPr txBox="1"/>
          <p:nvPr/>
        </p:nvSpPr>
        <p:spPr>
          <a:xfrm>
            <a:off x="8642300" y="3329285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 1,547명 집단 탈퇴 결의, 수수료 9.8%→7.8%</a:t>
            </a:r>
            <a:endParaRPr lang="en-US" sz="980" dirty="0"/>
          </a:p>
        </p:txBody>
      </p:sp>
      <p:sp>
        <p:nvSpPr>
          <p:cNvPr id="28" name="Text 26"/>
          <p:cNvSpPr txBox="1"/>
          <p:nvPr/>
        </p:nvSpPr>
        <p:spPr>
          <a:xfrm>
            <a:off x="571500" y="3946922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571500" y="4146947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행동을 만들까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076450" y="3931741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까치온 무료 와이파이</a:t>
            </a:r>
            <a:endParaRPr lang="en-US" sz="1130" dirty="0"/>
          </a:p>
        </p:txBody>
      </p:sp>
      <p:sp>
        <p:nvSpPr>
          <p:cNvPr id="31" name="Text 29"/>
          <p:cNvSpPr txBox="1"/>
          <p:nvPr/>
        </p:nvSpPr>
        <p:spPr>
          <a:xfrm>
            <a:off x="2076450" y="4150816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"인터넷 접속은 수돗물과 같습니다"</a:t>
            </a:r>
            <a:endParaRPr lang="en-US" sz="980" dirty="0"/>
          </a:p>
        </p:txBody>
      </p:sp>
      <p:sp>
        <p:nvSpPr>
          <p:cNvPr id="32" name="Text 30"/>
          <p:cNvSpPr txBox="1"/>
          <p:nvPr/>
        </p:nvSpPr>
        <p:spPr>
          <a:xfrm>
            <a:off x="5359301" y="3931741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하이파이브 · 경제백신</a:t>
            </a:r>
            <a:endParaRPr lang="en-US" sz="1130" dirty="0"/>
          </a:p>
        </p:txBody>
      </p:sp>
      <p:sp>
        <p:nvSpPr>
          <p:cNvPr id="33" name="Text 31"/>
          <p:cNvSpPr txBox="1"/>
          <p:nvPr/>
        </p:nvSpPr>
        <p:spPr>
          <a:xfrm>
            <a:off x="5359301" y="4150816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3년간 사장님 54,000명이 건넌 디지털 전환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8642300" y="3931741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QR광주</a:t>
            </a:r>
            <a:endParaRPr lang="en-US" sz="1130" dirty="0"/>
          </a:p>
        </p:txBody>
      </p:sp>
      <p:sp>
        <p:nvSpPr>
          <p:cNvPr id="35" name="Text 33"/>
          <p:cNvSpPr txBox="1"/>
          <p:nvPr/>
        </p:nvSpPr>
        <p:spPr>
          <a:xfrm>
            <a:off x="8642300" y="4150816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키오스크 대신, 테이블 위 QR 스티커 한 장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571500" y="4768453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1130" dirty="0"/>
          </a:p>
        </p:txBody>
      </p:sp>
      <p:sp>
        <p:nvSpPr>
          <p:cNvPr id="37" name="Text 35"/>
          <p:cNvSpPr txBox="1"/>
          <p:nvPr/>
        </p:nvSpPr>
        <p:spPr>
          <a:xfrm>
            <a:off x="571500" y="4968478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기억하게 할까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076450" y="4753273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시민 '서울씨'</a:t>
            </a:r>
            <a:endParaRPr lang="en-US" sz="1130" dirty="0"/>
          </a:p>
        </p:txBody>
      </p:sp>
      <p:sp>
        <p:nvSpPr>
          <p:cNvPr id="39" name="Text 37"/>
          <p:cNvSpPr txBox="1"/>
          <p:nvPr/>
        </p:nvSpPr>
        <p:spPr>
          <a:xfrm>
            <a:off x="2076450" y="4972348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계획서 대신 종암동 45세 워킹맘의 하루를 그렸다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5359301" y="4753273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떡볶이집 사장님 강사</a:t>
            </a:r>
            <a:endParaRPr lang="en-US" sz="1130" dirty="0"/>
          </a:p>
        </p:txBody>
      </p:sp>
      <p:sp>
        <p:nvSpPr>
          <p:cNvPr id="41" name="Text 39"/>
          <p:cNvSpPr txBox="1"/>
          <p:nvPr/>
        </p:nvSpPr>
        <p:spPr>
          <a:xfrm>
            <a:off x="5359301" y="4972348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라이브 30분에 50세트, 석 달 뒤 강단에 서다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8642300" y="4753273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 푸드클럽</a:t>
            </a:r>
            <a:endParaRPr lang="en-US" sz="1130" dirty="0"/>
          </a:p>
        </p:txBody>
      </p:sp>
      <p:sp>
        <p:nvSpPr>
          <p:cNvPr id="43" name="Text 41"/>
          <p:cNvSpPr txBox="1"/>
          <p:nvPr/>
        </p:nvSpPr>
        <p:spPr>
          <a:xfrm>
            <a:off x="8642300" y="4972348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FC는 Food Club — 홈경기에 11개 브랜드, 30분 완판</a:t>
            </a:r>
            <a:endParaRPr lang="en-US" sz="980" dirty="0"/>
          </a:p>
        </p:txBody>
      </p:sp>
      <p:sp>
        <p:nvSpPr>
          <p:cNvPr id="44" name="Text 42"/>
          <p:cNvSpPr txBox="1"/>
          <p:nvPr/>
        </p:nvSpPr>
        <p:spPr>
          <a:xfrm>
            <a:off x="571500" y="5589984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1130" dirty="0"/>
          </a:p>
        </p:txBody>
      </p:sp>
      <p:sp>
        <p:nvSpPr>
          <p:cNvPr id="45" name="Text 43"/>
          <p:cNvSpPr txBox="1"/>
          <p:nvPr/>
        </p:nvSpPr>
        <p:spPr>
          <a:xfrm>
            <a:off x="571500" y="5790009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누구와 연결할까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076450" y="5574804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개포 디지털혁신파크</a:t>
            </a:r>
            <a:endParaRPr lang="en-US" sz="1130" dirty="0"/>
          </a:p>
        </p:txBody>
      </p:sp>
      <p:sp>
        <p:nvSpPr>
          <p:cNvPr id="47" name="Text 45"/>
          <p:cNvSpPr txBox="1"/>
          <p:nvPr/>
        </p:nvSpPr>
        <p:spPr>
          <a:xfrm>
            <a:off x="2076450" y="5793879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스타트업 청년과 전통시장 상인이 만나는 공간</a:t>
            </a:r>
            <a:endParaRPr lang="en-US" sz="980" dirty="0"/>
          </a:p>
        </p:txBody>
      </p:sp>
      <p:sp>
        <p:nvSpPr>
          <p:cNvPr id="48" name="Text 46"/>
          <p:cNvSpPr txBox="1"/>
          <p:nvPr/>
        </p:nvSpPr>
        <p:spPr>
          <a:xfrm>
            <a:off x="5359301" y="5574804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가치삽시다</a:t>
            </a:r>
            <a:endParaRPr lang="en-US" sz="1130" dirty="0"/>
          </a:p>
        </p:txBody>
      </p:sp>
      <p:sp>
        <p:nvSpPr>
          <p:cNvPr id="49" name="Text 47"/>
          <p:cNvSpPr txBox="1"/>
          <p:nvPr/>
        </p:nvSpPr>
        <p:spPr>
          <a:xfrm>
            <a:off x="5359301" y="5793879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등록하면 14개 민간 채널에 자동 연계</a:t>
            </a:r>
            <a:endParaRPr lang="en-US" sz="980" dirty="0"/>
          </a:p>
        </p:txBody>
      </p:sp>
      <p:sp>
        <p:nvSpPr>
          <p:cNvPr id="50" name="Text 48"/>
          <p:cNvSpPr txBox="1"/>
          <p:nvPr/>
        </p:nvSpPr>
        <p:spPr>
          <a:xfrm>
            <a:off x="8642300" y="5574804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 디지털 닥터단</a:t>
            </a:r>
            <a:endParaRPr lang="en-US" sz="1130" dirty="0"/>
          </a:p>
        </p:txBody>
      </p:sp>
      <p:sp>
        <p:nvSpPr>
          <p:cNvPr id="51" name="Text 49"/>
          <p:cNvSpPr txBox="1"/>
          <p:nvPr/>
        </p:nvSpPr>
        <p:spPr>
          <a:xfrm>
            <a:off x="8642300" y="5793879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대학생이 골목 가게로 — 두 세대가 골목에서 만났다</a:t>
            </a:r>
            <a:endParaRPr lang="en-US" sz="980" dirty="0"/>
          </a:p>
        </p:txBody>
      </p:sp>
      <p:sp>
        <p:nvSpPr>
          <p:cNvPr id="52" name="Text 50"/>
          <p:cNvSpPr txBox="1"/>
          <p:nvPr/>
        </p:nvSpPr>
        <p:spPr>
          <a:xfrm>
            <a:off x="3111252" y="6267450"/>
            <a:ext cx="60264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책상에서 짠 레시피가 아니라, 세 주방에서 직접 끓여 본 레시피입니다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13011"/>
            <a:ext cx="1890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2 · 어떤 재료를 씁니까?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86063" y="527298"/>
            <a:ext cx="27263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02 · INGREDIENT · 3C2A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13061"/>
            <a:ext cx="6510933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②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재료를 준비하다 </a:t>
            </a:r>
            <a:pPr algn="l" indent="0" marL="0">
              <a:lnSpc>
                <a:spcPts val="4070"/>
              </a:lnSpc>
              <a:buNone/>
            </a:pPr>
            <a:r>
              <a:rPr lang="en-US" sz="210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무엇으로 경험을 만드는가?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723900" y="2314575"/>
            <a:ext cx="3028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723900" y="2819400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담을 것인가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57250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471464" y="3248025"/>
            <a:ext cx="266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909762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958233"/>
            <a:ext cx="2762250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40" b="1" spc="60" kern="0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재료 ① 무엇을 경험하나</a:t>
            </a:r>
            <a:endParaRPr lang="en-US" sz="94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4178498"/>
            <a:ext cx="27622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이미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넷플릭스는 목록 대신 '당신을 위한 추천'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7250" y="4612779"/>
            <a:ext cx="276225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행정은 아직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게시판의 공고문 한 장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23900" y="498708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알릴까"가 아니라 "주민에게 무슨 뜻일까"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4610100" y="2314575"/>
            <a:ext cx="3028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CHANNEL</a:t>
            </a:r>
            <a:endParaRPr lang="en-US" sz="2250" dirty="0"/>
          </a:p>
        </p:txBody>
      </p:sp>
      <p:sp>
        <p:nvSpPr>
          <p:cNvPr id="15" name="Text 13"/>
          <p:cNvSpPr txBox="1"/>
          <p:nvPr/>
        </p:nvSpPr>
        <p:spPr>
          <a:xfrm>
            <a:off x="4610100" y="2819400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어디에서 만나게 할 것인가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43450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5357664" y="3248025"/>
            <a:ext cx="266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795963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접점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743450" y="3958233"/>
            <a:ext cx="2762250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40" b="1" spc="60" kern="0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재료 ② 어디서·언제 경험하나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4743450" y="4178498"/>
            <a:ext cx="27622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이미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카카오톡 알림 한 줄이 먼저 찾아온다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43450" y="4612779"/>
            <a:ext cx="276225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행정은 아직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홈페이지에서 주민을 기다린다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10100" y="498708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"어디에 올릴까"가 아니라 "주민의 하루 어디에서 만날까"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8496300" y="2314575"/>
            <a:ext cx="3028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</a:t>
            </a:r>
            <a:endParaRPr lang="en-US" sz="2250" dirty="0"/>
          </a:p>
        </p:txBody>
      </p:sp>
      <p:sp>
        <p:nvSpPr>
          <p:cNvPr id="24" name="Text 22"/>
          <p:cNvSpPr txBox="1"/>
          <p:nvPr/>
        </p:nvSpPr>
        <p:spPr>
          <a:xfrm>
            <a:off x="8496300" y="2819400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누구와 만들고 퍼뜨릴 것인가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629650" y="3248025"/>
            <a:ext cx="635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수용자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9436745" y="3248025"/>
            <a:ext cx="266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9875044" y="3248025"/>
            <a:ext cx="1021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공동제작자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629650" y="3958233"/>
            <a:ext cx="2762250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40" b="1" spc="60" kern="0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재료 ③ 누구와 경험하나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629650" y="4178498"/>
            <a:ext cx="27622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이미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배민 리뷰 · 당근 동네생활, 이용자가 함께 만든다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629650" y="4612779"/>
            <a:ext cx="276225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행정은 아직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주민설명회에 주민을 초대한다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496300" y="498708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"누구에게 알릴까"가 아니라 "누구와 함께 만들까"</a:t>
            </a:r>
            <a:endParaRPr lang="en-US" sz="1130" dirty="0"/>
          </a:p>
        </p:txBody>
      </p:sp>
      <p:sp>
        <p:nvSpPr>
          <p:cNvPr id="32" name="Text 30"/>
          <p:cNvSpPr txBox="1"/>
          <p:nvPr/>
        </p:nvSpPr>
        <p:spPr>
          <a:xfrm>
            <a:off x="704850" y="5863382"/>
            <a:ext cx="3800475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3C는 모든 메뉴에 들어가는 </a:t>
            </a:r>
            <a:pPr algn="l" indent="0" marL="0">
              <a:lnSpc>
                <a:spcPts val="163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세 가지 재료</a:t>
            </a:r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무엇을 · 어디서 · 누구와. 경험격차도 이 세 군데에서 각각 벌어져 있습니다.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905375" y="5863382"/>
            <a:ext cx="3119438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+2A = 3C2A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무엇을 의제로 삼을까 · </a:t>
            </a:r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AUTHORITY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누구의 목소리일 때 믿을까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8424863" y="5863382"/>
            <a:ext cx="3119438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흐름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채널은 따로가 아니라 통합으로(AMEC 바르셀로나 원칙 4.0, PESO). 크리에이터는 '문화의 설계자', 플랫폼은 '신뢰의 매개자'(Edelman 2025).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② INGREDIENT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1440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재료가 바뀌자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2E7D4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맛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 바뀌었다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23900" y="1710184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 · 정보 → 의미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23900" y="1995934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금연광고 「자학」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3900" y="2367409"/>
            <a:ext cx="3105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스무 살에게 '폐암'은 너무 먼 정보였다. 그들이 신경 쓰는 건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피부와 입냄새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과녁을 좁히자 정보가 의미가 됐다.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819150" y="4238625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20대 흡연자의 진짜 관심사</a:t>
            </a:r>
            <a:endParaRPr lang="en-US" sz="980" dirty="0"/>
          </a:p>
        </p:txBody>
      </p:sp>
      <p:sp>
        <p:nvSpPr>
          <p:cNvPr id="8" name="Text 6"/>
          <p:cNvSpPr txBox="1"/>
          <p:nvPr/>
        </p:nvSpPr>
        <p:spPr>
          <a:xfrm>
            <a:off x="819150" y="4572000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메시지로 바꾼 행동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710184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CHANNEL · 전달 → 접점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995934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하이파이브 · 2020–2023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67409"/>
            <a:ext cx="3105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강의실에서 가르치는 대신 사장님의 가게가 방송국이 됐다. 떡볶이집 사장님의 첫 라이브,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30분에 50세트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4667250" y="4238625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사장님의 이야기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4667250" y="4572000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매출보다 먼저 온 자신감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420100" y="1710184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 · 수용자 → 공동제작자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20100" y="1995934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 · 2011–2017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20100" y="2367409"/>
            <a:ext cx="3105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10만 명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180일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동안 서울의 디지털 기본계획을 함께 썼다. 들은 사람이 아니라 쓴 사람이 된 시민.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8515350" y="4238625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시민 10만 명의 목소리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8515350" y="4572000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시민이 함께 쓴 기본계획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4838700" y="5612606"/>
            <a:ext cx="603304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285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말하기 전에 먼저 듣는다. 답은 늘 테이블 건너편에 있었다.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6250"/>
            <a:ext cx="2042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② CONTENT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61395" y="495300"/>
            <a:ext cx="756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→ 의미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52500"/>
            <a:ext cx="5162550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20"/>
              </a:lnSpc>
              <a:buNone/>
            </a:pPr>
            <a:r>
              <a:rPr lang="en-US" sz="39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폐암 대신</a:t>
            </a:r>
            <a:endParaRPr lang="en-US" sz="3900" dirty="0"/>
          </a:p>
          <a:p>
            <a:pPr algn="l" indent="0" marL="0">
              <a:lnSpc>
                <a:spcPts val="4520"/>
              </a:lnSpc>
              <a:buNone/>
            </a:pPr>
            <a:r>
              <a:rPr lang="en-US" sz="39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입속</a:t>
            </a:r>
            <a:pPr algn="l" indent="0" marL="0">
              <a:lnSpc>
                <a:spcPts val="4520"/>
              </a:lnSpc>
              <a:buNone/>
            </a:pPr>
            <a:r>
              <a:rPr lang="en-US" sz="39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말했다</a:t>
            </a:r>
            <a:endParaRPr lang="en-US" sz="3900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2291953"/>
            <a:ext cx="516255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스무 살 흡연자에게 '폐암'은 먼 훗날의 정보였습니다. 그들이 오늘 밤 신경 쓰는 건 마주 앉은 사람 앞의 </a:t>
            </a:r>
            <a:pPr algn="l" indent="0" marL="0">
              <a:lnSpc>
                <a:spcPts val="249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미소 한 번</a:t>
            </a:r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과녁을 좁히자 정보가 의미가 됐습니다.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5922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b="1" spc="70" kern="0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· 금강기획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84997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「자학」</a:t>
            </a:r>
            <a:endParaRPr lang="en-US" sz="158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27897"/>
            <a:ext cx="2095500" cy="6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대 피우는 중이군요." 흡연을 나를 해치는 행동으로 다시 보게 했다.</a:t>
            </a:r>
            <a:endParaRPr lang="en-US" sz="116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432572"/>
            <a:ext cx="285750" cy="151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48050" y="3565922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b="1" spc="70" kern="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· 보건복지부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48050" y="3784997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「치아변색」</a:t>
            </a:r>
            <a:endParaRPr lang="en-US" sz="1580" dirty="0"/>
          </a:p>
        </p:txBody>
      </p:sp>
      <p:sp>
        <p:nvSpPr>
          <p:cNvPr id="12" name="Text 10"/>
          <p:cNvSpPr txBox="1"/>
          <p:nvPr/>
        </p:nvSpPr>
        <p:spPr>
          <a:xfrm>
            <a:off x="3448050" y="4127897"/>
            <a:ext cx="2095500" cy="6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웃는 순간 드러나는 누런 치아. "흡연, 입 속을 불결하게 만드는 심각한 원인."</a:t>
            </a:r>
            <a:endParaRPr lang="en-US" sz="116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10238"/>
            <a:ext cx="4857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3C로 읽기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29313"/>
            <a:ext cx="4857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86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20대 흡연자의 진짜 관심사 · </a:t>
            </a:r>
            <a:pPr algn="l" indent="0" marL="0">
              <a:lnSpc>
                <a:spcPts val="186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</a:t>
            </a:r>
            <a:pPr algn="l" indent="0" marL="0">
              <a:lnSpc>
                <a:spcPts val="186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호감이 오가는 저녁 자리 · </a:t>
            </a:r>
            <a:pPr algn="l" indent="0" marL="0">
              <a:lnSpc>
                <a:spcPts val="186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86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겁이 아니라 '신경 쓰임'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6076950" y="4762500"/>
            <a:ext cx="22103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보건복지부 금연광고 「치아변색」 · 21초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10762357" y="4762500"/>
            <a:ext cx="820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눌러서 재생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7753350" y="5347841"/>
            <a:ext cx="18271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반전의 1초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753350" y="5566916"/>
            <a:ext cx="1827163" cy="810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겁을 주지 않고,</a:t>
            </a:r>
            <a:endParaRPr lang="en-US" sz="2850" dirty="0"/>
          </a:p>
          <a:p>
            <a:pPr algn="l" indent="0" marL="0">
              <a:lnSpc>
                <a:spcPts val="319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신경 쓰이게 했다</a:t>
            </a:r>
            <a:endParaRPr lang="en-US" sz="285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76950" y="576263"/>
            <a:ext cx="544830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150"/>
            <a:ext cx="217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3 · 무엇으로 맛을 바꿉니까?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66455" y="452438"/>
            <a:ext cx="3009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03 · SEASONING · 5 SPICES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819150"/>
            <a:ext cx="7608838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③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양념으로 맛을 내다 </a:t>
            </a:r>
            <a:pPr algn="l" indent="0" marL="0">
              <a:lnSpc>
                <a:spcPts val="3890"/>
              </a:lnSpc>
              <a:buNone/>
            </a:pPr>
            <a:r>
              <a:rPr lang="en-US" sz="203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경험격차를 줄이는 다섯 가지 손놀림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75507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spc="140" kern="0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PERCEPTION · 인식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5532"/>
            <a:ext cx="3752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마음의 경험을 바꾼다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75582"/>
            <a:ext cx="3752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것을 </a:t>
            </a:r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보이게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838200" y="2704207"/>
            <a:ext cx="105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FRAME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927027" y="2751832"/>
            <a:ext cx="9964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관점을 바꾸고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3066157"/>
            <a:ext cx="34480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잡상인 → 이동상인. 이름을 바꾸자 단속 대상이 지원 대상이 됐다.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3900488"/>
            <a:ext cx="1311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4E7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CONTEXT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2187476" y="3948112"/>
            <a:ext cx="8474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맥락을 읽고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3073003" y="3995738"/>
            <a:ext cx="736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8A6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양념의 소금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38200" y="4262438"/>
            <a:ext cx="34480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 오는 날 · 한여름 · 장례식장의 우산. 같은 물건, 다른 의미.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194548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경험은 이렇게 말합니다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394573"/>
            <a:ext cx="3752850" cy="3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"아, 그런 뜻이었구나"</a:t>
            </a:r>
            <a:endParaRPr lang="en-US" sz="2550" dirty="0"/>
          </a:p>
        </p:txBody>
      </p:sp>
      <p:sp>
        <p:nvSpPr>
          <p:cNvPr id="17" name="Text 15"/>
          <p:cNvSpPr txBox="1"/>
          <p:nvPr/>
        </p:nvSpPr>
        <p:spPr>
          <a:xfrm>
            <a:off x="4819650" y="1675507"/>
            <a:ext cx="2609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spc="140" kern="0" dirty="0">
                <a:solidFill>
                  <a:srgbClr val="9CC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 · 발견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4819650" y="1875532"/>
            <a:ext cx="2609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격차를 찾는 눈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819650" y="2275582"/>
            <a:ext cx="260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벌어졌는지 </a:t>
            </a:r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찾는다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4972050" y="2704207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INSIGHT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4972050" y="3066157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 것을 발견하고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72050" y="3351907"/>
            <a:ext cx="23050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제안은 0건, 심야 통화는 30억 건. 올빼미버스는 데이터가 먼저 찾았다.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4791075" y="4280595"/>
            <a:ext cx="26098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dirty="0">
                <a:solidFill>
                  <a:srgbClr val="9CC3F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주민은 어디서 멈춥니까?</a:t>
            </a:r>
            <a:endParaRPr lang="en-US" sz="2250" dirty="0"/>
          </a:p>
        </p:txBody>
      </p:sp>
      <p:sp>
        <p:nvSpPr>
          <p:cNvPr id="24" name="Text 22"/>
          <p:cNvSpPr txBox="1"/>
          <p:nvPr/>
        </p:nvSpPr>
        <p:spPr>
          <a:xfrm>
            <a:off x="4819650" y="5550694"/>
            <a:ext cx="937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보이게 하고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6623596" y="5550694"/>
            <a:ext cx="8059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겪게 한다 →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7810500" y="1675507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spc="140" kern="0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· 환경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7810500" y="1875532"/>
            <a:ext cx="3752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몸의 경험을 바꾼다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810500" y="2275582"/>
            <a:ext cx="3752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환경을 바꿔 </a:t>
            </a:r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겪게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7962900" y="2704207"/>
            <a:ext cx="891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RULE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8892034" y="2751832"/>
            <a:ext cx="9964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규칙을 바꾸고</a:t>
            </a:r>
            <a:endParaRPr lang="en-US" sz="1280" dirty="0"/>
          </a:p>
        </p:txBody>
      </p:sp>
      <p:sp>
        <p:nvSpPr>
          <p:cNvPr id="31" name="Text 29"/>
          <p:cNvSpPr txBox="1"/>
          <p:nvPr/>
        </p:nvSpPr>
        <p:spPr>
          <a:xfrm>
            <a:off x="7962900" y="3066157"/>
            <a:ext cx="34480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버스를 설득하는 대신 길 한가운데를 내줬다 — 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중앙버스전용차로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62900" y="3900488"/>
            <a:ext cx="10837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NUDGE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9084766" y="3948112"/>
            <a:ext cx="1190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행동을 쉽게 한다</a:t>
            </a:r>
            <a:endParaRPr lang="en-US" sz="1280" dirty="0"/>
          </a:p>
        </p:txBody>
      </p:sp>
      <p:sp>
        <p:nvSpPr>
          <p:cNvPr id="34" name="Text 32"/>
          <p:cNvSpPr txBox="1"/>
          <p:nvPr/>
        </p:nvSpPr>
        <p:spPr>
          <a:xfrm>
            <a:off x="7962900" y="4262438"/>
            <a:ext cx="344805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"조준해 주세요" 대신 소변기 속 파리 한 마리.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810500" y="5194548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경험은 이렇게 말합니다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7810500" y="5394573"/>
            <a:ext cx="3752850" cy="3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"어, 저절로 되네"</a:t>
            </a:r>
            <a:endParaRPr lang="en-US" sz="2550" dirty="0"/>
          </a:p>
        </p:txBody>
      </p:sp>
      <p:sp>
        <p:nvSpPr>
          <p:cNvPr id="37" name="Text 35"/>
          <p:cNvSpPr txBox="1"/>
          <p:nvPr/>
        </p:nvSpPr>
        <p:spPr>
          <a:xfrm>
            <a:off x="533400" y="6105227"/>
            <a:ext cx="4829473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마음만 바꾸면 </a:t>
            </a:r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C42A72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분칠</a:t>
            </a:r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, 몸만 바꾸면 </a:t>
            </a:r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B07A00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아무도 모른다</a:t>
            </a:r>
            <a:endParaRPr lang="en-US" sz="2850" dirty="0"/>
          </a:p>
        </p:txBody>
      </p:sp>
      <p:sp>
        <p:nvSpPr>
          <p:cNvPr id="38" name="Text 36"/>
          <p:cNvSpPr txBox="1"/>
          <p:nvPr/>
        </p:nvSpPr>
        <p:spPr>
          <a:xfrm>
            <a:off x="7848600" y="6036469"/>
            <a:ext cx="3867150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렌즈로서의 양념</a:t>
            </a:r>
            <a:pPr algn="l" indent="0" marL="0">
              <a:lnSpc>
                <a:spcPts val="1410"/>
              </a:lnSpc>
              <a:buNone/>
            </a:pPr>
            <a:r>
              <a:rPr lang="en-US" sz="94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영국 정부 전략커뮤니케이션(GCS): 정책 맥락 → 목표 행동 → 대상 통찰 → COM-B 장애요인 → EAST 행동설계 → 평가. 다음 장부터 한 장에 한 맛씩.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19941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① RULE · 규칙을 바꾸고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108573" y="571500"/>
            <a:ext cx="1113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몸의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09650"/>
            <a:ext cx="5334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버스를 설득하지 않았다.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길의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8A7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규칙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바꿨다.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305050"/>
            <a:ext cx="533400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2004년 7월, 서울 대중교통 체계 개편. 버스 기사에게 "빨리 달려 달라" 부탁하는 대신, 도로 한가운데를 버스에게 내줬습니다. </a:t>
            </a:r>
            <a:pPr algn="l" indent="0" marL="0">
              <a:lnSpc>
                <a:spcPts val="249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중앙버스전용차로</a:t>
            </a:r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메시지가 아니라 작동방식이 바뀌자 행동이 따라왔습니다.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781050" y="3559969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C9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규칙 — 『소상공인을 버린 AI』 디지털 권리장전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1050" y="3807619"/>
            <a:ext cx="4991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"정산은 7일 안에" · "신청 전에 국가가 먼저 찾는다" — 캠페인보다 오래가는 건 규칙입니다.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 없이 만든 것은 법 없이 사라진다.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6042720"/>
            <a:ext cx="53340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9FCB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 부서의 '중앙차로'는 무엇입니까?</a:t>
            </a:r>
            <a:endParaRPr lang="en-US" sz="2850" dirty="0"/>
          </a:p>
        </p:txBody>
      </p:sp>
      <p:sp>
        <p:nvSpPr>
          <p:cNvPr id="9" name="Text 7"/>
          <p:cNvSpPr txBox="1"/>
          <p:nvPr/>
        </p:nvSpPr>
        <p:spPr>
          <a:xfrm>
            <a:off x="7121415" y="732609"/>
            <a:ext cx="9124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34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340" dirty="0"/>
          </a:p>
        </p:txBody>
      </p:sp>
      <p:sp>
        <p:nvSpPr>
          <p:cNvPr id="10" name="Text 8"/>
          <p:cNvSpPr txBox="1"/>
          <p:nvPr/>
        </p:nvSpPr>
        <p:spPr>
          <a:xfrm>
            <a:off x="9911666" y="732609"/>
            <a:ext cx="79150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34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7266690" y="3944915"/>
            <a:ext cx="3263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930" b="1" dirty="0">
                <a:solidFill>
                  <a:srgbClr val="FF6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930" dirty="0"/>
          </a:p>
        </p:txBody>
      </p:sp>
      <p:sp>
        <p:nvSpPr>
          <p:cNvPr id="12" name="Text 10"/>
          <p:cNvSpPr txBox="1"/>
          <p:nvPr/>
        </p:nvSpPr>
        <p:spPr>
          <a:xfrm>
            <a:off x="6870927" y="2361860"/>
            <a:ext cx="3263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930" b="1" dirty="0">
                <a:solidFill>
                  <a:srgbClr val="FF6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930" dirty="0"/>
          </a:p>
        </p:txBody>
      </p:sp>
      <p:sp>
        <p:nvSpPr>
          <p:cNvPr id="13" name="Text 11"/>
          <p:cNvSpPr txBox="1"/>
          <p:nvPr/>
        </p:nvSpPr>
        <p:spPr>
          <a:xfrm>
            <a:off x="8397444" y="3681072"/>
            <a:ext cx="3263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930" b="1" dirty="0">
                <a:solidFill>
                  <a:srgbClr val="FF6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9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2106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② FRAME · 관점을 바꾸고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221087" y="571500"/>
            <a:ext cx="1236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09650"/>
            <a:ext cx="5334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사람,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다른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C94D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액자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305050"/>
            <a:ext cx="533400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'잡상인'이라 부르면 단속 대상이 되고, '이동상인'이라 부르면 지원 대상이 됩니다. 사람은 그대로인데 액자가 바뀌자 정책이 바뀝니다. 이름은 가장 값싸고 가장 강한 양념입니다.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781050" y="3540919"/>
            <a:ext cx="12093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strike="sngStrike" dirty="0">
                <a:solidFill>
                  <a:srgbClr val="9A9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망우리 공동묘지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047577" y="3540919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C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333327" y="3540919"/>
            <a:ext cx="13190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망우역사문화공원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81050" y="4112419"/>
            <a:ext cx="744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9A9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소버린 AI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83085" y="4112419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C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868835" y="4112419"/>
            <a:ext cx="1553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 AI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79453" y="4112419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C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65203" y="4112419"/>
            <a:ext cx="15815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소상공인이 부리는 AI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6042720"/>
            <a:ext cx="53340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C94D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우리가 무심코 쓰는 이름 중, 바꿔야 할 것은?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7862344" y="2159590"/>
            <a:ext cx="2163261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60"/>
              </a:lnSpc>
              <a:buNone/>
            </a:pPr>
            <a:r>
              <a:rPr lang="en-US" sz="4750" b="1" dirty="0">
                <a:solidFill>
                  <a:srgbClr val="9A9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잡상인</a:t>
            </a:r>
            <a:endParaRPr lang="en-US" sz="4750" dirty="0"/>
          </a:p>
        </p:txBody>
      </p:sp>
      <p:sp>
        <p:nvSpPr>
          <p:cNvPr id="16" name="Text 14"/>
          <p:cNvSpPr txBox="1"/>
          <p:nvPr/>
        </p:nvSpPr>
        <p:spPr>
          <a:xfrm>
            <a:off x="7186047" y="3373415"/>
            <a:ext cx="3515856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660"/>
              </a:lnSpc>
              <a:buNone/>
            </a:pPr>
            <a:r>
              <a:rPr lang="en-US" sz="579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이동상인</a:t>
            </a:r>
            <a:endParaRPr lang="en-US" sz="5790" dirty="0"/>
          </a:p>
        </p:txBody>
      </p:sp>
      <p:sp>
        <p:nvSpPr>
          <p:cNvPr id="17" name="Text 15"/>
          <p:cNvSpPr txBox="1"/>
          <p:nvPr/>
        </p:nvSpPr>
        <p:spPr>
          <a:xfrm>
            <a:off x="7783793" y="4510904"/>
            <a:ext cx="23203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80" b="1" dirty="0">
                <a:solidFill>
                  <a:srgbClr val="8A5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단속 대상 → 지원 대상</a:t>
            </a:r>
            <a:endParaRPr lang="en-US" sz="1480" dirty="0"/>
          </a:p>
        </p:txBody>
      </p:sp>
      <p:sp>
        <p:nvSpPr>
          <p:cNvPr id="18" name="Text 16"/>
          <p:cNvSpPr txBox="1"/>
          <p:nvPr/>
        </p:nvSpPr>
        <p:spPr>
          <a:xfrm>
            <a:off x="7604150" y="5745616"/>
            <a:ext cx="26796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34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그대로, 액자만 바꿨다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14350"/>
            <a:ext cx="3120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③ CONTEXT · 맥락을 읽고 — 양념의 소금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234458" y="533400"/>
            <a:ext cx="1236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933450"/>
            <a:ext cx="50037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우산, </a:t>
            </a:r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8FD16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다른 의미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629400" y="915591"/>
            <a:ext cx="5010150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콘텐츠도 </a:t>
            </a:r>
            <a:pPr algn="l" indent="0" marL="0">
              <a:lnSpc>
                <a:spcPts val="223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 · 언제 · 어디에서 · 어떤 상황에서</a:t>
            </a:r>
            <a:pPr algn="l" indent="0" marL="0">
              <a:lnSpc>
                <a:spcPts val="223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도착하느냐에 따라 전혀 다른 경험이 됩니다.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81050" y="5062538"/>
            <a:ext cx="3282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EB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라면 · 오늘의 첫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1050" y="5291138"/>
            <a:ext cx="3282851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봉지 라면도 한강 둔치에서 먹으면 다른 맛. 맛은 장면이 만든다.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3001" y="5062538"/>
            <a:ext cx="32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EB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· 코로나19 한복판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83001" y="5291138"/>
            <a:ext cx="32830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디지털 교육도 그때는 진통제가 아니라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'디지털 경제백신'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이어야 했다.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85100" y="5371654"/>
            <a:ext cx="3282851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이 문자는 주민의 하루 중 언제 도착합니까?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10337" y="4367213"/>
            <a:ext cx="23037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 오는 날 — 고마움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5271113" y="4367213"/>
            <a:ext cx="1649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한여름 — 그늘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879540" y="4367213"/>
            <a:ext cx="19005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장례식장 — 예의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2547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④ INSIGHT · 숨은 것을 발견하고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737818" y="609600"/>
            <a:ext cx="8679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9CC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격차를 찾는 눈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805809" y="604838"/>
            <a:ext cx="10964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· 2013.9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85850"/>
            <a:ext cx="52387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자정 넘은 서울,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집에 못 가는 사람들</a:t>
            </a:r>
            <a:endParaRPr lang="en-US" sz="37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19350"/>
            <a:ext cx="52387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대리기사, 청소노동자, 편의점 야간 알바생. 막차가 끊긴 뒤에도 도시는 이들의 노동으로 돌아갔지만, 누구도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"밤에는 버스가 없는 게 당연한가?"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묻지 않았습니다.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29025"/>
            <a:ext cx="5238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던지자 데이터가 답했습니다. 공식 채널로 들어온 심야버스 제안은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건도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없었습니다. 하지만 새벽의 통화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30억 건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말하고 있었습니다. 그 길을 따라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노선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그었고, 정식 운행 50일 만에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30만 명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탔습니다.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010275"/>
            <a:ext cx="523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데이터가 말하고 있었다. 우리만 듣지 못했던 것이다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457950" y="4211538"/>
            <a:ext cx="144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· 질문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57950" y="4440138"/>
            <a:ext cx="1441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밤엔 버스가 없나?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8223200" y="4211538"/>
            <a:ext cx="144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· 발견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3200" y="4440138"/>
            <a:ext cx="1441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심야 통화 30억 건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9988451" y="4211538"/>
            <a:ext cx="144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· 결과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988451" y="4440138"/>
            <a:ext cx="1441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밤에도 집에 간다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6496050" y="5354538"/>
            <a:ext cx="4895850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운행 날 버스 안에서 울었다는 한 청소노동자가 있었습니다. 이번에는 기뻐서였다고 합니다.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6496050" y="5894487"/>
            <a:ext cx="4895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현장에서 전해 들은 이야기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57950" y="552450"/>
            <a:ext cx="231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⑤ NUDGE · 행동을 쉽게 한다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27480" y="571500"/>
            <a:ext cx="1113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몸의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305550" y="1009650"/>
            <a:ext cx="53340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조준을 부탁하지 않았다.</a:t>
            </a:r>
            <a:endParaRPr lang="en-US" sz="3600" dirty="0"/>
          </a:p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B9B7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조준하고 싶게</a:t>
            </a:r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만들었다.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305550" y="2259806"/>
            <a:ext cx="533400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암스테르담 스키폴 공항 남자 화장실. 소변기 배수구 옆에 파리 한 마리를 그려 넣자 밖으로 튀는 양이 크게 줄었습니다. 탈러와 선스타인의 『넛지』(2008)가 소개하며 행동설계의 상징이 됐습니다.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77000" y="4055269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D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넛지 — 1트윗 = 1원, 2009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77000" y="4302919"/>
            <a:ext cx="4991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"기부하세요" 대신 "평소처럼 트윗하세요". 석 달 만에 600여 명, 800만 원. 나눔의 문턱을 낮추자 행동이 따라왔습니다.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5550" y="6042720"/>
            <a:ext cx="53340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B9B7F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 신청서의 '파리 한 마리'는 무엇입니까?</a:t>
            </a:r>
            <a:endParaRPr lang="en-US" sz="2850" dirty="0"/>
          </a:p>
        </p:txBody>
      </p:sp>
      <p:sp>
        <p:nvSpPr>
          <p:cNvPr id="9" name="Text 7"/>
          <p:cNvSpPr txBox="1"/>
          <p:nvPr/>
        </p:nvSpPr>
        <p:spPr>
          <a:xfrm>
            <a:off x="4864037" y="1806518"/>
            <a:ext cx="65023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조준!</a:t>
            </a:r>
            <a:endParaRPr lang="en-US" sz="1480" dirty="0"/>
          </a:p>
        </p:txBody>
      </p:sp>
      <p:sp>
        <p:nvSpPr>
          <p:cNvPr id="10" name="Text 8"/>
          <p:cNvSpPr txBox="1"/>
          <p:nvPr/>
        </p:nvSpPr>
        <p:spPr>
          <a:xfrm>
            <a:off x="1522117" y="6037931"/>
            <a:ext cx="34518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70"/>
              </a:lnSpc>
              <a:buNone/>
            </a:pPr>
            <a:r>
              <a:rPr lang="en-US" sz="119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"조준해 주세요" 안내문 대신, 파리 한 마리</a:t>
            </a:r>
            <a:endParaRPr lang="en-US" sz="119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285750"/>
            <a:ext cx="577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 ④ TOOLS · 정책실의 주방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723900"/>
            <a:ext cx="57721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우리의 방법론이 곧 </a:t>
            </a:r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9FC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조리도구</a:t>
            </a:r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입니다</a:t>
            </a:r>
            <a:endParaRPr lang="en-US" sz="2850" dirty="0"/>
          </a:p>
        </p:txBody>
      </p:sp>
      <p:sp>
        <p:nvSpPr>
          <p:cNvPr id="4" name="Text 2"/>
          <p:cNvSpPr txBox="1"/>
          <p:nvPr/>
        </p:nvSpPr>
        <p:spPr>
          <a:xfrm>
            <a:off x="381000" y="1253430"/>
            <a:ext cx="57721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2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AI는 레시피를 찾고, 사람은 맛을 본다 — AI를 도구로 두면 AX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9630519" y="2200275"/>
            <a:ext cx="7414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480551" y="2200275"/>
            <a:ext cx="57254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334080" y="2200275"/>
            <a:ext cx="3728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314575"/>
            <a:ext cx="514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天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314575"/>
            <a:ext cx="514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地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1638300" y="2314575"/>
            <a:ext cx="514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人</a:t>
            </a:r>
            <a:endParaRPr lang="en-US" sz="2250" dirty="0"/>
          </a:p>
        </p:txBody>
      </p:sp>
      <p:sp>
        <p:nvSpPr>
          <p:cNvPr id="11" name="Text 9"/>
          <p:cNvSpPr txBox="1"/>
          <p:nvPr/>
        </p:nvSpPr>
        <p:spPr>
          <a:xfrm>
            <a:off x="2270968" y="2324100"/>
            <a:ext cx="468213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038600" y="3933825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5350" y="3933825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3933825"/>
            <a:ext cx="3689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1253" y="3800475"/>
            <a:ext cx="4336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60803" y="3400425"/>
            <a:ext cx="4336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5중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41120" y="180022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05600" y="1714500"/>
            <a:ext cx="2115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· 주문이 들어온다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6705600" y="1914525"/>
            <a:ext cx="9985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변화를 발견한다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442341" y="2486025"/>
            <a:ext cx="262276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벽걸이 도구 · DESIGN × DATA × AI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283220" y="319087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8650" y="3114675"/>
            <a:ext cx="24456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天地人 · 시대·장소·사람으로 읽고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8650" y="3305175"/>
            <a:ext cx="16807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Q · 익숙한 것을 의심한다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3220" y="4791075"/>
            <a:ext cx="3143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8650" y="4705350"/>
            <a:ext cx="12483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모래시계 타이머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628650" y="4905375"/>
            <a:ext cx="171149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넓히고, 좁히고, 다시 펼친다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912120" y="635317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257550" y="6257925"/>
            <a:ext cx="21037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아궁이 · 연결하고 숙성한다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3257550" y="6467475"/>
            <a:ext cx="173664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불 조절 손잡이 뜻 · 땀 · 때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082382" y="4810125"/>
            <a:ext cx="40823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6·7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77000" y="4714875"/>
            <a:ext cx="918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9중 · 5중 체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77000" y="4905375"/>
            <a:ext cx="121851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것만 걸러 낸다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922270" y="479107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67700" y="4714875"/>
            <a:ext cx="10441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67700" y="4905375"/>
            <a:ext cx="7864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맛본다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068544" y="4162425"/>
            <a:ext cx="3802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80" dirty="0"/>
          </a:p>
        </p:txBody>
      </p:sp>
      <p:sp>
        <p:nvSpPr>
          <p:cNvPr id="37" name="Text 35"/>
          <p:cNvSpPr txBox="1"/>
          <p:nvPr/>
        </p:nvSpPr>
        <p:spPr>
          <a:xfrm>
            <a:off x="9467850" y="4086225"/>
            <a:ext cx="17395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· 배식구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467850" y="4276725"/>
            <a:ext cx="15870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식탁에서 검증한다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582894" y="6181725"/>
            <a:ext cx="3802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9982200" y="6105525"/>
            <a:ext cx="19083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· 레시피 노트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982200" y="6296025"/>
            <a:ext cx="16700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배우고, 다음 요리로 잇는다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④ TOOLS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7155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9A98C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버린 AI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에서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부리는 AI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로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04850" y="1786384"/>
            <a:ext cx="333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04850" y="213880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 · 서울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850" y="2443609"/>
            <a:ext cx="3333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통화 30억 건으로 새벽의 길을 찾았다. 데이터는 신청보다 먼저 도착한다.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4457700" y="1786384"/>
            <a:ext cx="333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57700" y="213880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지산D소 · 1소1상 · 광주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57700" y="2443609"/>
            <a:ext cx="3333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지역에서 만들고 디지털로 판다. 사장님 한 명에 킬러 상품 하나 — 경험을 설계한 구조.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8210550" y="1786384"/>
            <a:ext cx="333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10550" y="213880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 AX 1번지 · 지금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10550" y="2443609"/>
            <a:ext cx="3333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공공이 먼저 AI를 부리는 법을 익힌다. 그래야 골목에도 건넬 수 있다.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3419921"/>
            <a:ext cx="641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8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6월 · 국가 AI 전략 회의를 마치고 들른 떡갈비집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2000" y="3705671"/>
            <a:ext cx="6419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"소버린 AI요? 우린 그런 거 몰라요.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그냥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아니길 바랄 뿐이죠."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4410521"/>
            <a:ext cx="641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고가도로 위에서는 AI 주권을 말하는데, 그 아래 골목에서는 전혀 다른 언어가 쓰이고 있었다. 도구가 누구 손에 있느냐가 맛을 정한다.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9258300" y="4386411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『소상공인을 버린 AI』 중에서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58300" y="4672161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진짜 소버린 AI는 소상공인이 주인인 AI다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1707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4 · 간은 보셨습니까?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55553" y="604838"/>
            <a:ext cx="2110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05 · TASTE (ROI)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1087755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⑤</a:t>
            </a:r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간을 보다 </a:t>
            </a:r>
            <a:pPr algn="l" indent="0" marL="0">
              <a:lnSpc>
                <a:spcPts val="4250"/>
              </a:lnSpc>
              <a:buNone/>
            </a:pPr>
            <a:r>
              <a:rPr lang="en-US" sz="225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정말 맛있는 커뮤니케이션인가?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826270" y="2130028"/>
            <a:ext cx="118735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ROI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146971" y="2201466"/>
            <a:ext cx="29497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=</a:t>
            </a:r>
            <a:endParaRPr lang="en-US" sz="3900" dirty="0"/>
          </a:p>
        </p:txBody>
      </p:sp>
      <p:sp>
        <p:nvSpPr>
          <p:cNvPr id="7" name="Text 5"/>
          <p:cNvSpPr txBox="1"/>
          <p:nvPr/>
        </p:nvSpPr>
        <p:spPr>
          <a:xfrm>
            <a:off x="3546723" y="2072878"/>
            <a:ext cx="933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</a:t>
            </a:r>
            <a:endParaRPr lang="en-US" sz="4050" dirty="0"/>
          </a:p>
        </p:txBody>
      </p:sp>
      <p:sp>
        <p:nvSpPr>
          <p:cNvPr id="8" name="Text 6"/>
          <p:cNvSpPr txBox="1"/>
          <p:nvPr/>
        </p:nvSpPr>
        <p:spPr>
          <a:xfrm>
            <a:off x="4642098" y="2201466"/>
            <a:ext cx="3543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×</a:t>
            </a:r>
            <a:endParaRPr lang="en-US" sz="3900" dirty="0"/>
          </a:p>
        </p:txBody>
      </p:sp>
      <p:sp>
        <p:nvSpPr>
          <p:cNvPr id="9" name="Text 7"/>
          <p:cNvSpPr txBox="1"/>
          <p:nvPr/>
        </p:nvSpPr>
        <p:spPr>
          <a:xfrm>
            <a:off x="5129808" y="2072878"/>
            <a:ext cx="933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</a:t>
            </a:r>
            <a:endParaRPr lang="en-US" sz="4050" dirty="0"/>
          </a:p>
        </p:txBody>
      </p:sp>
      <p:sp>
        <p:nvSpPr>
          <p:cNvPr id="10" name="Text 8"/>
          <p:cNvSpPr txBox="1"/>
          <p:nvPr/>
        </p:nvSpPr>
        <p:spPr>
          <a:xfrm>
            <a:off x="6253758" y="2201466"/>
            <a:ext cx="3543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×</a:t>
            </a:r>
            <a:endParaRPr lang="en-US" sz="3900" dirty="0"/>
          </a:p>
        </p:txBody>
      </p:sp>
      <p:sp>
        <p:nvSpPr>
          <p:cNvPr id="11" name="Text 9"/>
          <p:cNvSpPr txBox="1"/>
          <p:nvPr/>
        </p:nvSpPr>
        <p:spPr>
          <a:xfrm>
            <a:off x="6712893" y="2072878"/>
            <a:ext cx="933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I</a:t>
            </a:r>
            <a:endParaRPr lang="en-US" sz="4050" dirty="0"/>
          </a:p>
        </p:txBody>
      </p:sp>
      <p:sp>
        <p:nvSpPr>
          <p:cNvPr id="12" name="Text 10"/>
          <p:cNvSpPr txBox="1"/>
          <p:nvPr/>
        </p:nvSpPr>
        <p:spPr>
          <a:xfrm>
            <a:off x="8284518" y="2064990"/>
            <a:ext cx="21383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80" kern="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정책의 맛 = 경험의 맛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84518" y="2274540"/>
            <a:ext cx="2138363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3C는 재료, 양념은 손길,</a:t>
            </a:r>
            <a:endParaRPr lang="en-US" sz="2400" dirty="0"/>
          </a:p>
          <a:p>
            <a:pPr algn="l" indent="0" marL="0">
              <a:lnSpc>
                <a:spcPts val="269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ROI는 경험의 맛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95350" y="3587353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Relevance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95350" y="3968353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나와 무슨 상관인가?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895350" y="4301728"/>
            <a:ext cx="31432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주민이 '내 이야기'로 느끼는가. 공공의 성공은 얼마나 많은 사람이 자기 일로 받아들이느냐에 달렸다.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52950" y="3587353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Originality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552950" y="3968353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했는가?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4552950" y="4301728"/>
            <a:ext cx="3143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본 듯한 현수막인가, 중랑만의 문장인가. 차별성이 없으면 스크롤에 묻힌다.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10550" y="3587353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210550" y="3968353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경험이 달라졌는가?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210550" y="4301728"/>
            <a:ext cx="3143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조회수가 아니라 행동과 일상의 변화. 신청이 늘었는가, 기다림이 줄었는가.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010275"/>
            <a:ext cx="429547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C42A72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"셋 중 하나가 0이면, 맛이 나지 않습니다."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6448425" y="6129338"/>
            <a:ext cx="81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Output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640092" y="6129338"/>
            <a:ext cx="8645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Outtake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885634" y="6129338"/>
            <a:ext cx="9355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Outcome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202168" y="6129338"/>
            <a:ext cx="7986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Impact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153180" y="6129338"/>
            <a:ext cx="41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AMEC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6250"/>
            <a:ext cx="228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· 레시피 노트 원본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178522" y="490538"/>
            <a:ext cx="26576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1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 「디지털 커뮤니케이션」 강의안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1440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 레시피는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어제 만든 것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 아닙니다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929634"/>
            <a:ext cx="941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모래시계 모델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65089" y="4929634"/>
            <a:ext cx="209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12888" y="4929634"/>
            <a:ext cx="1414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3C · 모래시계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53484"/>
            <a:ext cx="52197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넓게 조사하고(Research), 한 점으로 모으고(Concept), 다시 펼친다(Action Plan). 그 가운데 이미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· Channel · Consumer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있었습니다.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343650" y="4929634"/>
            <a:ext cx="150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판독 공식 攻/守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91016" y="4929634"/>
            <a:ext cx="209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38815" y="4929634"/>
            <a:ext cx="1307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ROI 간 보기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43650" y="5253484"/>
            <a:ext cx="52197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당사자의 연관성(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), 과거 사례와 확산성(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), 여론화와 재생산 가능성(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). 이슈를 가려내던 저울이 오늘 정책의 간을 봅니다.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41563" y="6124575"/>
            <a:ext cx="6765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현장에서 쓰고, 고치고, 다시 쓴 노트 — 했다는 것이 하겠다는 것의 증거입니다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⑤ TASTE · 징비록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71550"/>
            <a:ext cx="11182350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간을 못 본 요리도 있었습니다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1637407"/>
            <a:ext cx="111823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성과만큼 실패도 기록합니다. R·O·I 가운데 하나가 0이 되자 좋은 요리도 식탁에서 사라졌습니다.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95325" y="2321272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62050" y="2397472"/>
            <a:ext cx="14101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C9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Relevance가 흔들릴 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23900" y="2759422"/>
            <a:ext cx="329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제돌이 방류 · 서울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3900" y="3130897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성급한 말 한 마디로 방류가 정치가 됐다. 그래도 제돌이는 바다로 돌아갔다. 메시지가 시민의 삶이 아니라 논쟁과 연결되면 맛이 변한다.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4448175" y="2321272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14900" y="2397472"/>
            <a:ext cx="1609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9C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Impact가 지속되지 못할 때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76750" y="2759422"/>
            <a:ext cx="329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시민시장실 · 서울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76750" y="3130897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2017년 세계 최초의 디지털 시장실, CES 2020에도 소개됐다. 그러나 조례라는 대못을 박지 않았고, 시장이 바뀌자 이름도 쓰임도 바뀌었다.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4476750" y="6004620"/>
            <a:ext cx="32956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법 없이 만든 것은 법 없이 사라진다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201025" y="2321272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67750" y="2397472"/>
            <a:ext cx="14333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EB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간은 한 번이 아니라 계속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759422"/>
            <a:ext cx="329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 · 광주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130897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1,547명의 선언, 공공배달 점유율 전국 평균의 4배. 다르게 했고 숫자도 났다. 그런데 그것으로 충분했을까?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6004620"/>
            <a:ext cx="32956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우리는 성공했지만, 실패했다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12739"/>
            <a:ext cx="4933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spc="410" kern="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1분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331839"/>
            <a:ext cx="493395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커뮤니케이션 요리를 이야기했습니다.</a:t>
            </a:r>
            <a:endParaRPr lang="en-US" sz="18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그런데 정책도 같습니다.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326011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있는 것을 </a:t>
            </a:r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보고,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754636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맥락을 읽고,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83261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새롭게 연결하면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11886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경험이 달라집니다.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78534"/>
            <a:ext cx="3314105" cy="3329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혁신은</a:t>
            </a:r>
            <a:endParaRPr lang="en-US" sz="5700" dirty="0"/>
          </a:p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것을</a:t>
            </a:r>
            <a:endParaRPr lang="en-US" sz="5700" dirty="0"/>
          </a:p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다르게 하는</a:t>
            </a:r>
            <a:endParaRPr lang="en-US" sz="5700" dirty="0"/>
          </a:p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것이다.</a:t>
            </a:r>
            <a:endParaRPr lang="en-US" sz="5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1124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중랑이 차릴 식탁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095649" y="566738"/>
            <a:ext cx="4073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NEW CONNECTION, A DIFFERENT EXPERIENCE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28700"/>
            <a:ext cx="11029950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경험격차에서 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경험복지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까지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733425" y="1888480"/>
            <a:ext cx="1870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733425" y="2126605"/>
            <a:ext cx="18706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5553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경험격차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3425" y="2459980"/>
            <a:ext cx="1870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누구는 누리고 누군가는 못 누리는 경험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46946" y="1888480"/>
            <a:ext cx="18707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2946946" y="2126605"/>
            <a:ext cx="18707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연결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46946" y="2459980"/>
            <a:ext cx="187077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사람·공간·산업·기술, 행정과 민간을 잇는다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160615" y="1888480"/>
            <a:ext cx="1870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</a:t>
            </a:r>
            <a:endParaRPr lang="en-US" sz="980" dirty="0"/>
          </a:p>
        </p:txBody>
      </p:sp>
      <p:sp>
        <p:nvSpPr>
          <p:cNvPr id="12" name="Text 10"/>
          <p:cNvSpPr txBox="1"/>
          <p:nvPr/>
        </p:nvSpPr>
        <p:spPr>
          <a:xfrm>
            <a:off x="5160615" y="2126605"/>
            <a:ext cx="18706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경험디자인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60615" y="2459980"/>
            <a:ext cx="1870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자원을 다르게 설계해 일상에서 체감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74136" y="1888480"/>
            <a:ext cx="18707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7374136" y="2126605"/>
            <a:ext cx="18707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경험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74136" y="2459980"/>
            <a:ext cx="187077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기다림이 줄고, 이동이 편해지고, 소비가 즐거워진다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587805" y="1888480"/>
            <a:ext cx="1870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9587805" y="2126605"/>
            <a:ext cx="18706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경험복지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587805" y="2459980"/>
            <a:ext cx="1870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주민이 더 나은 경험을 누리는 도시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19150" y="3380036"/>
            <a:ext cx="7581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VISITOR JOURNEY — 중랑에서의 경험 여정</a:t>
            </a:r>
            <a:endParaRPr lang="en-US" sz="1280" dirty="0"/>
          </a:p>
        </p:txBody>
      </p:sp>
      <p:sp>
        <p:nvSpPr>
          <p:cNvPr id="21" name="Text 19"/>
          <p:cNvSpPr txBox="1"/>
          <p:nvPr/>
        </p:nvSpPr>
        <p:spPr>
          <a:xfrm>
            <a:off x="933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3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오는가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38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838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이동하는가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743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43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발견하는가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648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48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해보는가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33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3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만드는가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838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SPEND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838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어디에 소비하는가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43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743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남기는가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648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RETURN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48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다시 오는가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9150" y="5924550"/>
            <a:ext cx="7581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"방문이 끝이 아니라, 순환의 시작입니다."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514350"/>
            <a:ext cx="800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13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반전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34443" y="528638"/>
            <a:ext cx="2168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IS NOT ENOUGH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971550"/>
            <a:ext cx="57721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질문의 시대에서</a:t>
            </a:r>
            <a:endParaRPr lang="en-US" sz="3750" dirty="0"/>
          </a:p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D24D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맥락의 시대</a:t>
            </a:r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로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238375"/>
            <a:ext cx="5772150" cy="9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커뮤니케이션은 말을 잘하는 기술이 아니었습니다. </a:t>
            </a:r>
            <a:pPr algn="l" indent="0" marL="0">
              <a:lnSpc>
                <a:spcPts val="242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상대와 상황을 이해하는 일</a:t>
            </a:r>
            <a:pPr algn="l" indent="0" marL="0">
              <a:lnSpc>
                <a:spcPts val="242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이었습니다. AI도 마찬가지입니다. 프롬프트 한 줄보다, AI에게 </a:t>
            </a:r>
            <a:pPr algn="l" indent="0" marL="0">
              <a:lnSpc>
                <a:spcPts val="242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맥락을 건네느냐</a:t>
            </a:r>
            <a:pPr algn="l" indent="0" marL="0">
              <a:lnSpc>
                <a:spcPts val="242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답을 바꿉니다.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742950" y="346605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양념의 소금이던 CONTEXT가, 이제 주방 전체가 됩니다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2950" y="3713708"/>
            <a:ext cx="5429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잘 쓰는 조직은 질문을 잘하는 조직이 아니라,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맥락이 잘 쌓이고, 잘 찾아지고, 잘 연결되는 조직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5676900"/>
            <a:ext cx="57721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FD24D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행정에는 이미 가장 귀한 맥락이 있습니다.</a:t>
            </a:r>
            <a:endParaRPr lang="en-US" sz="3000" dirty="0"/>
          </a:p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FD24D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주민의 삶입니다.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667500" y="5905500"/>
            <a:ext cx="5010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Philipp Schmid, "The New Skill in AI is Context Engineering"(2025.6.30) · Anthropic, "Effective context engineering for AI agents"(2025.9) · Google Cloud, "What is AI context engineering?"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79135" y="3724275"/>
            <a:ext cx="92972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1413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75955" y="676275"/>
            <a:ext cx="25360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10"/>
              </a:lnSpc>
              <a:buNone/>
            </a:pPr>
            <a:r>
              <a:rPr lang="en-US" sz="1580" b="1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삶 · 중랑의 경험</a:t>
            </a:r>
            <a:endParaRPr lang="en-US" sz="1580" dirty="0"/>
          </a:p>
        </p:txBody>
      </p:sp>
      <p:sp>
        <p:nvSpPr>
          <p:cNvPr id="12" name="Text 10"/>
          <p:cNvSpPr txBox="1"/>
          <p:nvPr/>
        </p:nvSpPr>
        <p:spPr>
          <a:xfrm>
            <a:off x="8296282" y="1257300"/>
            <a:ext cx="16954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· 업무 시스템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8759" y="1828800"/>
            <a:ext cx="18304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· 데이터 · 검색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398825" y="2400300"/>
            <a:ext cx="14903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 · 과거 결정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30688" y="3028950"/>
            <a:ext cx="16307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지시 · 규칙 · 철학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70937" y="4400550"/>
            <a:ext cx="17461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0"/>
              </a:lnSpc>
              <a:buNone/>
            </a:pPr>
            <a:r>
              <a:rPr lang="en-US" sz="113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질문은 가장 작은 한 겹</a:t>
            </a:r>
            <a:endParaRPr lang="en-US" sz="11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1071116"/>
            <a:ext cx="18802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 DESIGN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3213795" y="1071116"/>
            <a:ext cx="18060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DESIGN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038225" y="1509266"/>
            <a:ext cx="6715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spc="140" kern="0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질문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38225" y="1747391"/>
            <a:ext cx="6715125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중랑에 산다는 것은 어떤 경험이어야 하는가?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19796"/>
            <a:ext cx="6915150" cy="166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새로운 연결,</a:t>
            </a:r>
            <a:endParaRPr lang="en-US" sz="5850" dirty="0"/>
          </a:p>
          <a:p>
            <a:pPr algn="l" indent="0" marL="0">
              <a:lnSpc>
                <a:spcPts val="6550"/>
              </a:lnSpc>
              <a:buNone/>
            </a:pPr>
            <a:r>
              <a:rPr lang="en-US" sz="5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다른 경험.</a:t>
            </a:r>
            <a:endParaRPr lang="en-US" sz="5850" dirty="0"/>
          </a:p>
        </p:txBody>
      </p:sp>
      <p:sp>
        <p:nvSpPr>
          <p:cNvPr id="7" name="Text 5"/>
          <p:cNvSpPr txBox="1"/>
          <p:nvPr/>
        </p:nvSpPr>
        <p:spPr>
          <a:xfrm>
            <a:off x="838200" y="4274493"/>
            <a:ext cx="6915150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경험을 바꾸는 것이 행정의 일이고,</a:t>
            </a:r>
            <a:endParaRPr lang="en-US" sz="1950" dirty="0"/>
          </a:p>
          <a:p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경험을 디자인하는 것이 </a:t>
            </a:r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 일</a:t>
            </a:r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838200" y="5358259"/>
            <a:ext cx="14812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감사합니다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2614761" y="5382071"/>
            <a:ext cx="35681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뜻과 땀으로 때를 짓는 정책셰프 김현성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79085" y="6315075"/>
            <a:ext cx="4055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자랑, 우리 중랑 · JUNGNANG NEXT STANDARD</a:t>
            </a:r>
            <a:endParaRPr lang="en-US" sz="11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672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20602" y="604838"/>
            <a:ext cx="11986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WATCH &amp; ASK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10877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주민은 이제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읽지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않고,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6B45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보고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묻습니다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3125"/>
            <a:ext cx="309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54</a:t>
            </a:r>
            <a:pPr algn="l" indent="0" marL="0">
              <a:lnSpc>
                <a:spcPts val="5400"/>
              </a:lnSpc>
              <a:buNone/>
            </a:pPr>
            <a:r>
              <a:rPr lang="en-US" sz="30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4175"/>
            <a:ext cx="309235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소셜·동영상 플랫폼이</a:t>
            </a:r>
            <a:endParaRPr lang="en-US" sz="143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쓰는 뉴스 창구로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33775"/>
            <a:ext cx="309235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 방송·포털을 처음으로 앞질렀다. 사람들은 점점 '읽기'보다 '보기'를 택한다.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4578251" y="2381250"/>
            <a:ext cx="6142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9A98C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11564" y="2143125"/>
            <a:ext cx="12086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6B45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10</a:t>
            </a:r>
            <a:pPr algn="l" indent="0" marL="0">
              <a:lnSpc>
                <a:spcPts val="5400"/>
              </a:lnSpc>
              <a:buNone/>
            </a:pPr>
            <a:r>
              <a:rPr lang="en-US" sz="3000" dirty="0">
                <a:solidFill>
                  <a:srgbClr val="6B45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578251" y="2924175"/>
            <a:ext cx="309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AI 챗봇으로</a:t>
            </a:r>
            <a:endParaRPr lang="en-US" sz="143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뉴스를 접하는 사람 (2025→2026)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4578251" y="3533775"/>
            <a:ext cx="3092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18~24세는 17%. 아직 '주 창구'는 1%지만, 질문하는 습관이 먼저 자라고 있다.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8242250" y="2143125"/>
            <a:ext cx="309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52</a:t>
            </a:r>
            <a:pPr algn="l" indent="0" marL="0">
              <a:lnSpc>
                <a:spcPts val="5400"/>
              </a:lnSpc>
              <a:buNone/>
            </a:pPr>
            <a:r>
              <a:rPr lang="en-US" sz="30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242250" y="2924175"/>
            <a:ext cx="309235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18~24세의 절반 이상,</a:t>
            </a:r>
            <a:endParaRPr lang="en-US" sz="143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4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소셜·영상·AI가 주된 뉴스 창구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8242250" y="3533775"/>
            <a:ext cx="309235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창구와의 격차는 32%p. 내일의 주민은 보도자료가 아니라 피드와 대화창에서 우리를 만난다.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895350" y="5278934"/>
            <a:ext cx="10458450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해석</a:t>
            </a:r>
            <a:pPr algn="l" indent="0" marL="0">
              <a:lnSpc>
                <a:spcPts val="2280"/>
              </a:lnSpc>
              <a:buNone/>
            </a:pPr>
            <a:r>
              <a:rPr lang="en-US" sz="14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보도자료 한 장이 아니라 </a:t>
            </a:r>
            <a:pPr algn="l" indent="0" marL="0">
              <a:lnSpc>
                <a:spcPts val="228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 영상</a:t>
            </a:r>
            <a:pPr algn="l" indent="0" marL="0">
              <a:lnSpc>
                <a:spcPts val="2280"/>
              </a:lnSpc>
              <a:buNone/>
            </a:pPr>
            <a:r>
              <a:rPr lang="en-US" sz="14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하나, 홈페이지 메뉴가 아니라 </a:t>
            </a:r>
            <a:pPr algn="l" indent="0" marL="0">
              <a:lnSpc>
                <a:spcPts val="228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하나에 답하는 문장</a:t>
            </a:r>
            <a:pPr algn="l" indent="0" marL="0">
              <a:lnSpc>
                <a:spcPts val="2280"/>
              </a:lnSpc>
              <a:buNone/>
            </a:pPr>
            <a:r>
              <a:rPr lang="en-US" sz="14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주민이 맛보는 첫 숟가락이 됩니다.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57925"/>
            <a:ext cx="10877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Reuters Institute, Digital News Report 2026 (2026.6 발표)</a:t>
            </a:r>
            <a:endParaRPr lang="en-US" sz="9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672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20602" y="604838"/>
            <a:ext cx="16647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ISLANDS OF TRUST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108775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신뢰는 멀리 있는 기관보다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가까운 사람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에게 머뭅니다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952500" y="2705100"/>
            <a:ext cx="4829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기관별 신뢰도 (에델만 2026)</a:t>
            </a:r>
            <a:endParaRPr lang="en-US" sz="1280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3114675"/>
            <a:ext cx="1190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다니는 직장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5377458" y="3114675"/>
            <a:ext cx="4042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78%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952500" y="3752850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5377458" y="3752850"/>
            <a:ext cx="4042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64%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4391025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5377458" y="4391025"/>
            <a:ext cx="4042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53%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952500" y="5743129"/>
            <a:ext cx="482917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가까운 공동체일수록 신뢰가 높다. 정부는 25%p 뒤에 서 있다.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6429375" y="2757636"/>
            <a:ext cx="2378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10명 중 7</a:t>
            </a:r>
            <a:endParaRPr lang="en-US" sz="4500" dirty="0"/>
          </a:p>
        </p:txBody>
      </p:sp>
      <p:sp>
        <p:nvSpPr>
          <p:cNvPr id="14" name="Text 12"/>
          <p:cNvSpPr txBox="1"/>
          <p:nvPr/>
        </p:nvSpPr>
        <p:spPr>
          <a:xfrm>
            <a:off x="8921800" y="2667000"/>
            <a:ext cx="2412950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가치관·정보원이 다른 사람은 </a:t>
            </a:r>
            <a:pPr algn="l" indent="0" marL="0">
              <a:lnSpc>
                <a:spcPts val="19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믿기 망설여진다</a:t>
            </a:r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불만(grievance)이 고립(insularity)으로 굳어간다.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6429375" y="3991273"/>
            <a:ext cx="1235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54%</a:t>
            </a:r>
            <a:endParaRPr lang="en-US" sz="4500" dirty="0"/>
          </a:p>
        </p:txBody>
      </p:sp>
      <p:sp>
        <p:nvSpPr>
          <p:cNvPr id="16" name="Text 14"/>
          <p:cNvSpPr txBox="1"/>
          <p:nvPr/>
        </p:nvSpPr>
        <p:spPr>
          <a:xfrm>
            <a:off x="7779395" y="4026098"/>
            <a:ext cx="355535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저소득층의 절반 이상이 생성형 AI의 혜택에서 </a:t>
            </a:r>
            <a:pPr algn="l" indent="0" marL="0">
              <a:lnSpc>
                <a:spcPts val="19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뒤처질 것</a:t>
            </a:r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 느낀다. 소상공인을 버린 AI의 그늘.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6429375" y="5134273"/>
            <a:ext cx="4905375" cy="86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pPr algn="l" indent="0" marL="0">
              <a:lnSpc>
                <a:spcPts val="228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해석</a:t>
            </a:r>
            <a:pPr algn="l" indent="0" marL="0">
              <a:lnSpc>
                <a:spcPts val="228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구청의 가장 강력한 미디어는 </a:t>
            </a:r>
            <a:pPr algn="l" indent="0" marL="0">
              <a:lnSpc>
                <a:spcPts val="228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창구의 한 사람</a:t>
            </a:r>
            <a:pPr algn="l" indent="0" marL="0">
              <a:lnSpc>
                <a:spcPts val="228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주민이 믿는 건 '중랑구'라는 기관이 아니라, 오늘 나를 응대한 </a:t>
            </a:r>
            <a:pPr algn="l" indent="0" marL="0">
              <a:lnSpc>
                <a:spcPts val="228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직원</a:t>
            </a:r>
            <a:pPr algn="l" indent="0" marL="0">
              <a:lnSpc>
                <a:spcPts val="228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440835"/>
            <a:ext cx="10877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2026 Edelman Trust Barometer (2026.1 발표)</a:t>
            </a:r>
            <a:endParaRPr lang="en-US" sz="9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672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20602" y="604838"/>
            <a:ext cx="2336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PEOPLE ARE THE CHANNEL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108775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한 사람의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개인기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는 채널을 열고,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레시피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는 채널을 지킵니다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876300" y="2571750"/>
            <a:ext cx="316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2019~2025 · 열다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76300" y="3105150"/>
            <a:ext cx="31685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충주시 '충TV'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76300" y="3505200"/>
            <a:ext cx="3168551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B급 감성, 셀프 디스, 밈. 시정 홍보의 문법을 바꾸며 구독자 </a:t>
            </a:r>
            <a:pPr algn="l" indent="0" marL="0">
              <a:lnSpc>
                <a:spcPts val="204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100만 명 가까이</a:t>
            </a:r>
            <a:pPr algn="l" indent="0" marL="0">
              <a:lnSpc>
                <a:spcPts val="204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지자체 채널의 교과서가 되었다.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4540151" y="2571750"/>
            <a:ext cx="316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2026.2 · 떠나다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40151" y="3105150"/>
            <a:ext cx="316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'충주맨' 김선태 퇴직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540151" y="3505200"/>
            <a:ext cx="31687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그는 방송인으로 새 길을 걷고, 채널은 '그다음'이라는 숙제를 받았다. 사람은 떠나도 주민과의 대화는 계속되어야 한다.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8204150" y="2571750"/>
            <a:ext cx="316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중랑의 질문 · 잇다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04150" y="3105150"/>
            <a:ext cx="31685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 한 명 대신, 레시피 한 권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204150" y="3505200"/>
            <a:ext cx="3168551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끓여도 같은 맛이 나는 표준 레시피. 모든 직원이 셰프가 되는 조직의 </a:t>
            </a:r>
            <a:pPr algn="l" indent="0" marL="0">
              <a:lnSpc>
                <a:spcPts val="204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pPr algn="l" indent="0" marL="0">
              <a:lnSpc>
                <a:spcPts val="204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필요하다.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778847"/>
            <a:ext cx="17957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6B45E8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모든 것은 미디어다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2824460" y="5718870"/>
            <a:ext cx="851029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한 통, 고지서의 글꼴, 민원창구의 첫마디 — Every touchpoint is a message. 여러분 한 분 한 분이 중랑의 채널입니다.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672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20602" y="604838"/>
            <a:ext cx="2888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SEARCH TO CONVERSATION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108775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"홈페이지에서 헤매지 마세요"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6B45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메뉴를 찾는 행정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에서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질문에 답하는 행정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으로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2698105" y="2819400"/>
            <a:ext cx="29502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이사 왔는데, 쓰레기 봉투는 어디서 사요?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562100" y="3467100"/>
            <a:ext cx="3935611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편의점·마트에서 살 수 있어요. 전입신고를 마치셨다면, 대형 폐기물 배출 방법도 함께 알려드릴까요?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938540"/>
            <a:ext cx="490537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주민은 조직도를 모릅니다. 주민이 아는 건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질문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뿐입니다.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10325" y="2628900"/>
            <a:ext cx="4943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· 포항봇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6410325" y="2867025"/>
            <a:ext cx="494347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안내를 2026년 7월부터 홈페이지 전 분야로 확대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6410325" y="3594199"/>
            <a:ext cx="4943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세종 · AI 충녕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6410325" y="3832324"/>
            <a:ext cx="494347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행정 안내, 시범운영 뒤 12월 정식 운영 예정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6410325" y="4559498"/>
            <a:ext cx="4943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송파 · 판단을 돕는 AI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6410325" y="4797623"/>
            <a:ext cx="494347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구유지 활용을 인구·입지·이용량 데이터로 검토 — 챗봇을 넘어 정책 판단으로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6410325" y="5756672"/>
            <a:ext cx="494347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그런데</a:t>
            </a:r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AI가 대답을 대신해도, </a:t>
            </a:r>
            <a:pPr algn="l" indent="0" marL="0">
              <a:lnSpc>
                <a:spcPts val="19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문장으로</a:t>
            </a:r>
            <a:pPr algn="l" indent="0" marL="0">
              <a:lnSpc>
                <a:spcPts val="198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답할지는 여전히 우리가 정합니다.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639520"/>
            <a:ext cx="10877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서울신문(2026.7.2) 「홈페이지에서 헤매지 마세요…AI 입혀 길 찾아주는 지자체」, 행정안전부 「2026 AI 정부 서비스 사례집」, 아이티데일리(2026)</a:t>
            </a:r>
            <a:endParaRPr lang="en-US" sz="9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90950" y="552450"/>
            <a:ext cx="2222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정책실의 주방 11단계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22653" y="566738"/>
            <a:ext cx="18505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POLICY KITCHEN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3638550" y="1009650"/>
            <a:ext cx="8039100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정책실의 주방 </a:t>
            </a:r>
            <a:pPr algn="l" indent="0" marL="0">
              <a:lnSpc>
                <a:spcPts val="4070"/>
              </a:lnSpc>
              <a:buNone/>
            </a:pPr>
            <a:r>
              <a:rPr lang="en-US" sz="210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한 접시를 만드는 11단계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3771900" y="1831330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발견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3771900" y="2050405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3771900" y="2345680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변화를 발견한다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791200" y="1831330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읽기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5791200" y="2050405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天地人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5791200" y="2345680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시대·장소·사람으로 읽는다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810500" y="1831330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질문</a:t>
            </a:r>
            <a:endParaRPr lang="en-US" sz="980" dirty="0"/>
          </a:p>
        </p:txBody>
      </p:sp>
      <p:sp>
        <p:nvSpPr>
          <p:cNvPr id="12" name="Text 10"/>
          <p:cNvSpPr txBox="1"/>
          <p:nvPr/>
        </p:nvSpPr>
        <p:spPr>
          <a:xfrm>
            <a:off x="7810500" y="2050405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7810500" y="2345680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익숙한 것을 의심한다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829800" y="1831330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발산·수렴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9829800" y="2050405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모래시계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9829800" y="2345680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넓히고, 좁히고, 다시 펼친다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71900" y="3207395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C9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숙성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3771900" y="342647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아궁이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3771900" y="3721745"/>
            <a:ext cx="17145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것을 연결하고 숙성한다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791200" y="3207395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거르기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5791200" y="342647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9중 FILTER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5791200" y="3721745"/>
            <a:ext cx="17145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아이디어를 좋은 아이디어로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10500" y="3207395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· 다듬기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7810500" y="342647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5중 FILTER</a:t>
            </a:r>
            <a:endParaRPr lang="en-US" sz="1430" dirty="0"/>
          </a:p>
        </p:txBody>
      </p:sp>
      <p:sp>
        <p:nvSpPr>
          <p:cNvPr id="25" name="Text 23"/>
          <p:cNvSpPr txBox="1"/>
          <p:nvPr/>
        </p:nvSpPr>
        <p:spPr>
          <a:xfrm>
            <a:off x="7810500" y="3721745"/>
            <a:ext cx="17145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아이디어를 좋은 정책으로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3207395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· 불 조절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42647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 · 땀 · 때</a:t>
            </a:r>
            <a:endParaRPr lang="en-US" sz="143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721745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왜, 어떻게, 언제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771900" y="4776936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· 시식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3771900" y="4996011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1430" dirty="0"/>
          </a:p>
        </p:txBody>
      </p:sp>
      <p:sp>
        <p:nvSpPr>
          <p:cNvPr id="31" name="Text 29"/>
          <p:cNvSpPr txBox="1"/>
          <p:nvPr/>
        </p:nvSpPr>
        <p:spPr>
          <a:xfrm>
            <a:off x="3771900" y="5291286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해본다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791200" y="4776936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· 서빙</a:t>
            </a:r>
            <a:endParaRPr lang="en-US" sz="980" dirty="0"/>
          </a:p>
        </p:txBody>
      </p:sp>
      <p:sp>
        <p:nvSpPr>
          <p:cNvPr id="33" name="Text 31"/>
          <p:cNvSpPr txBox="1"/>
          <p:nvPr/>
        </p:nvSpPr>
        <p:spPr>
          <a:xfrm>
            <a:off x="5791200" y="4996011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</a:t>
            </a:r>
            <a:endParaRPr lang="en-US" sz="1430" dirty="0"/>
          </a:p>
        </p:txBody>
      </p:sp>
      <p:sp>
        <p:nvSpPr>
          <p:cNvPr id="34" name="Text 32"/>
          <p:cNvSpPr txBox="1"/>
          <p:nvPr/>
        </p:nvSpPr>
        <p:spPr>
          <a:xfrm>
            <a:off x="5791200" y="5291286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경험으로 검증한다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810500" y="4776936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· 다음 요리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7810500" y="4996011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</a:t>
            </a:r>
            <a:endParaRPr lang="en-US" sz="1430" dirty="0"/>
          </a:p>
        </p:txBody>
      </p:sp>
      <p:sp>
        <p:nvSpPr>
          <p:cNvPr id="37" name="Text 35"/>
          <p:cNvSpPr txBox="1"/>
          <p:nvPr/>
        </p:nvSpPr>
        <p:spPr>
          <a:xfrm>
            <a:off x="7810500" y="5291286"/>
            <a:ext cx="171450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배우고, 다음으로 연결한다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638550" y="6096000"/>
            <a:ext cx="803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커뮤니케이션 레시피 뒤에는, 한 접시를 숙성시키는 정책실의 주방이 있습니다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③ SEASONING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5250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재료에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B07A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양념 한 숟가락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더한 다섯 장면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42950" y="1748284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C9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· 숨은 것을 발견하고 — 올빼미버스, 2013.9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42950" y="2014984"/>
            <a:ext cx="9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0건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42950" y="2472184"/>
            <a:ext cx="924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채널의 제안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1743224" y="2014984"/>
            <a:ext cx="14982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30억 건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743224" y="2472184"/>
            <a:ext cx="14982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새벽의 통화 데이터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42950" y="2729359"/>
            <a:ext cx="720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9FC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9개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42950" y="3186559"/>
            <a:ext cx="720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노선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1539329" y="2729359"/>
            <a:ext cx="1501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9FC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30만 명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539329" y="3186559"/>
            <a:ext cx="15015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50일 승객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742950" y="3443734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제안을 기다리지 않고 데이터로 먼저 찾아가는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발견행정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시작.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742950" y="4317950"/>
            <a:ext cx="51435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데이터가 말하고 있었다.</a:t>
            </a:r>
            <a:endParaRPr lang="en-US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우리만 듣지 못했던 것이다.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324600" y="1710184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FRAME · 관점을 바꾸고 — 떡갈비집의 한 마디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324600" y="1957834"/>
            <a:ext cx="52197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소버린 AI →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 AI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소상공인이 부리는 AI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사장님의 농담이 책 한 권의 프레임이 됐다.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24600" y="3543598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7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· 맥락을 읽고 — 코로나19 한복판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24600" y="3791248"/>
            <a:ext cx="52197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진통제가 아니라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백신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놓고 싶었다. 같은 교육도 그때는 '하이파이브, 디지털 경제백신'이어야 했다.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4850" y="5377011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NUDGE · 행동을 쉽게 한다 — 1트윗 = 1원, 2009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4850" y="5624661"/>
            <a:ext cx="52197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트윗 한 번이 1원의 기부. 석 달 만에 600여 명, 800만 원. 아름다운재단 10주년 특별상.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24600" y="5377011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· 규칙을 바꾸고 — 디지털 권리장전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24600" y="5624661"/>
            <a:ext cx="52197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"정산은 7일 안에", "신청 전에 국가가 먼저 찾는다". 세상의 불은 규제가 아니라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경기를 가능하게 하는 규칙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끈다.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93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· 실무 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983730" y="604838"/>
            <a:ext cx="16728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OF A SENTENCE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85850"/>
            <a:ext cx="1087755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친절한 중랑씨 </a:t>
            </a:r>
            <a:pPr algn="l" indent="0" marL="0">
              <a:lnSpc>
                <a:spcPts val="4250"/>
              </a:lnSpc>
              <a:buNone/>
            </a:pPr>
            <a:r>
              <a:rPr lang="en-US" sz="225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친절은 태도가 아니라 기술입니다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04875" y="2034778"/>
            <a:ext cx="4943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· 공급자의 문장</a:t>
            </a:r>
            <a:endParaRPr lang="en-US" sz="1130" dirty="0"/>
          </a:p>
        </p:txBody>
      </p:sp>
      <p:sp>
        <p:nvSpPr>
          <p:cNvPr id="6" name="Text 4"/>
          <p:cNvSpPr txBox="1"/>
          <p:nvPr/>
        </p:nvSpPr>
        <p:spPr>
          <a:xfrm>
            <a:off x="904875" y="2330053"/>
            <a:ext cx="494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553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"관련 규정에 의거하여 귀하의 신청은 불가함을 통보합니다."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91275" y="2025253"/>
            <a:ext cx="496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· 주민의 장면에서 쓴 문장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6391275" y="2320528"/>
            <a:ext cx="49625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"이번에는 ○○ 기준 때문에 어렵게 됐어요. 대신 이렇게 하시면 다음 달에 다시 신청하실 수 있어요."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3501628"/>
            <a:ext cx="17868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920728"/>
            <a:ext cx="17868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쉬운 말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4244578"/>
            <a:ext cx="17868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의거·귀하·통보 대신 일상의 단어로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3044130" y="3501628"/>
            <a:ext cx="17868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3044130" y="3920728"/>
            <a:ext cx="17868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먼저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44130" y="4244578"/>
            <a:ext cx="17868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되는지, 안 되는지, 다음엔 무엇을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5231011" y="3501628"/>
            <a:ext cx="1786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5231011" y="3920728"/>
            <a:ext cx="1786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따뜻한 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31011" y="4244578"/>
            <a:ext cx="178697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통보가 아니라 안내, 거절이 아니라 대안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7418040" y="3501628"/>
            <a:ext cx="17868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7418040" y="3920728"/>
            <a:ext cx="17868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 쉽게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418040" y="4244578"/>
            <a:ext cx="17868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글씨, 짧은 줄, 한눈에 들어오는 순서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9604921" y="3501628"/>
            <a:ext cx="1786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9604921" y="3920728"/>
            <a:ext cx="1786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열린 창구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604921" y="4244578"/>
            <a:ext cx="178697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문의처와 되묻는 길을 반드시 남긴다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876300" y="6061770"/>
            <a:ext cx="10496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 팁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AI에게 초안을 맡길 때도 "중학생도 이해할 쉬운 말로, 결론 먼저, 다음 행동 한 가지를 포함해"라고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레시피를 주문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1076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· 중랑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123926" y="604838"/>
            <a:ext cx="2044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COOKING · MANGU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85850"/>
            <a:ext cx="1087755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실전 쿠킹 — </a:t>
            </a:r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망우</a:t>
            </a:r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를 요리합니다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95350" y="2025253"/>
            <a:ext cx="4943475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600여 년 전, 자신이 묻힐 자리를 정하고 돌아가던 태조 이성계가 이 고개에서 말했다고 전해집니다. </a:t>
            </a:r>
            <a:pPr algn="l" indent="0" marL="0">
              <a:lnSpc>
                <a:spcPts val="2360"/>
              </a:lnSpc>
              <a:buNone/>
            </a:pPr>
            <a:r>
              <a:rPr lang="en-US" sz="13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"이제야 근심을 잊겠구나."</a:t>
            </a:r>
            <a:pPr algn="l" indent="0" marL="0">
              <a:lnSpc>
                <a:spcPts val="236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그래서 이름이 </a:t>
            </a:r>
            <a:pPr algn="l" indent="0" marL="0">
              <a:lnSpc>
                <a:spcPts val="236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망우(忘憂)</a:t>
            </a:r>
            <a:pPr algn="l" indent="0" marL="0">
              <a:lnSpc>
                <a:spcPts val="236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근심을 잊는 곳.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6775" y="3411141"/>
            <a:ext cx="2290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· 공급자의 이름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6775" y="3658791"/>
            <a:ext cx="22907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553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망우리 공동묘지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66775" y="4020741"/>
            <a:ext cx="22907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dirty="0">
                <a:solidFill>
                  <a:srgbClr val="5553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무섭고, 낡고, 피해 가는 곳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3567113" y="3401616"/>
            <a:ext cx="230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· 주민의 경험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67113" y="3649266"/>
            <a:ext cx="23098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망우역사문화공원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567113" y="4011216"/>
            <a:ext cx="23098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한용운·방정환·이중섭·박인환을 만나러 걷는 인문학 산책길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876300" y="4877991"/>
            <a:ext cx="4981575" cy="1408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레시피로 읽기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메뉴 </a:t>
            </a: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재료 </a:t>
            </a: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(잠든 이들의 이야기)·</a:t>
            </a: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(해설·걷기 모임) · 양념 </a:t>
            </a: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FRAME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(이름을 바꾸고)·</a:t>
            </a: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(가을 산책의 계절에) · 간 </a:t>
            </a:r>
            <a:pPr algn="l" indent="0" marL="0">
              <a:lnSpc>
                <a:spcPts val="210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</a:t>
            </a:r>
            <a:pPr algn="l" indent="0" marL="0">
              <a:lnSpc>
                <a:spcPts val="210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찾는 공원이 되었는가.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6448425" y="5524500"/>
            <a:ext cx="48672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죽음의 공간을, 삶의 정원으로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48425" y="5981700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 × 역사 × 산책 = 걷는 역사, 기억이 되고 경제가 된다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1076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· 중랑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047726" y="566738"/>
            <a:ext cx="3516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SAME THINGS, A DIFFERENT EXPERIENCE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28700"/>
            <a:ext cx="11029950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중랑의 자산을 다르게 연결하는 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6가지 요리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2190750" y="1869430"/>
            <a:ext cx="18922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봉제 × 관광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2190750" y="2088505"/>
            <a:ext cx="18922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여행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2190750" y="2383780"/>
            <a:ext cx="189220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 BY JUNGNANG — 봉제가 취향산업이 된다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92701" y="1869430"/>
            <a:ext cx="1892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× 콘텐츠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5892701" y="2088505"/>
            <a:ext cx="1892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경험하는 시장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5892701" y="2383780"/>
            <a:ext cx="18923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전통시장 3.0 — 먹고, 배우고, 만나고, 사는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594800" y="1869430"/>
            <a:ext cx="18922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 × 역사 × 산책</a:t>
            </a:r>
            <a:endParaRPr lang="en-US" sz="980" dirty="0"/>
          </a:p>
        </p:txBody>
      </p:sp>
      <p:sp>
        <p:nvSpPr>
          <p:cNvPr id="12" name="Text 10"/>
          <p:cNvSpPr txBox="1"/>
          <p:nvPr/>
        </p:nvSpPr>
        <p:spPr>
          <a:xfrm>
            <a:off x="9594800" y="2088505"/>
            <a:ext cx="18922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걷는 역사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9594800" y="2383780"/>
            <a:ext cx="189220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망우해넘이 — 기억이 되고, 경제가 된다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90750" y="4006453"/>
            <a:ext cx="18922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가업승계 × AI × 금융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2190750" y="4225528"/>
            <a:ext cx="18922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이어가는 골목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2190750" y="4520803"/>
            <a:ext cx="189220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이어가게 — 동네의 시간을 다음 세대의 브랜드로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92701" y="4006453"/>
            <a:ext cx="1892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× 데이터 × 공동체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5892701" y="4225528"/>
            <a:ext cx="1892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돌봄경제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5892701" y="4520803"/>
            <a:ext cx="18923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중랑동행사랑넷 — 돌봄이 사람과 일자리를 만든다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594800" y="4006453"/>
            <a:ext cx="18922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소상공인 × AI Agent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9594800" y="4225528"/>
            <a:ext cx="18922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비스포크 서비스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9594800" y="4520803"/>
            <a:ext cx="189220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DATA + 1 AGENT — 작은 가게도 AI와 함께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761804" y="6067425"/>
            <a:ext cx="67255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"연결할 수 있는 것은 연결하고, 달라져야 할 경험은 다시 설계한다."</a:t>
            </a:r>
            <a:endParaRPr lang="en-US" sz="2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1076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· 중랑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047726" y="566738"/>
            <a:ext cx="4740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JUNGNANG AX2030 · FROM TODAY TO A STANDARD CITY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28700"/>
            <a:ext cx="11029950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중랑 2030 로드맵 </a:t>
            </a:r>
            <a:pPr algn="l" indent="0" marL="0">
              <a:lnSpc>
                <a:spcPts val="4070"/>
              </a:lnSpc>
              <a:buNone/>
            </a:pPr>
            <a:r>
              <a:rPr lang="en-US" sz="210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연결이 만드는 중랑의 변화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85038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후반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040880"/>
            <a:ext cx="2409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추격 | 발견·연결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564755"/>
            <a:ext cx="2409825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자산지도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프로토타입(3~5개)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 여정 설계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33775" y="185038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상반기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533775" y="2040880"/>
            <a:ext cx="2409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구축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33775" y="2564755"/>
            <a:ext cx="2409825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AX혁신과 출범(2027.1.1)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데이터·결제·AI 인프라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실증사업 확대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5550" y="185038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후반~2028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05550" y="2040880"/>
            <a:ext cx="2409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추월 | 확산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5550" y="2564755"/>
            <a:ext cx="2409825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 BY JUNGNANG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3.0 / 이어가게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망우·용마 경험 루프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77325" y="185038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2029~2030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077325" y="2040880"/>
            <a:ext cx="2409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기준도시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077325" y="2564755"/>
            <a:ext cx="2409825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지역순환경제 정착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확산 모델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JUNGNANG STANDARD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" y="3836938"/>
            <a:ext cx="13515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결국, 지역순환경제</a:t>
            </a:r>
            <a:endParaRPr lang="en-US" sz="1280" dirty="0"/>
          </a:p>
        </p:txBody>
      </p:sp>
      <p:sp>
        <p:nvSpPr>
          <p:cNvPr id="18" name="Text 16"/>
          <p:cNvSpPr txBox="1"/>
          <p:nvPr/>
        </p:nvSpPr>
        <p:spPr>
          <a:xfrm>
            <a:off x="2380208" y="3836938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2868662" y="3836938"/>
            <a:ext cx="219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3221087" y="3836938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en-US" sz="1280" dirty="0"/>
          </a:p>
        </p:txBody>
      </p:sp>
      <p:sp>
        <p:nvSpPr>
          <p:cNvPr id="21" name="Text 19"/>
          <p:cNvSpPr txBox="1"/>
          <p:nvPr/>
        </p:nvSpPr>
        <p:spPr>
          <a:xfrm>
            <a:off x="3709541" y="3836938"/>
            <a:ext cx="219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4061966" y="3836938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</a:t>
            </a:r>
            <a:endParaRPr lang="en-US" sz="1280" dirty="0"/>
          </a:p>
        </p:txBody>
      </p:sp>
      <p:sp>
        <p:nvSpPr>
          <p:cNvPr id="23" name="Text 21"/>
          <p:cNvSpPr txBox="1"/>
          <p:nvPr/>
        </p:nvSpPr>
        <p:spPr>
          <a:xfrm>
            <a:off x="4550420" y="3836938"/>
            <a:ext cx="219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80" dirty="0"/>
          </a:p>
        </p:txBody>
      </p:sp>
      <p:sp>
        <p:nvSpPr>
          <p:cNvPr id="24" name="Text 22"/>
          <p:cNvSpPr txBox="1"/>
          <p:nvPr/>
        </p:nvSpPr>
        <p:spPr>
          <a:xfrm>
            <a:off x="4902845" y="3836938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</a:t>
            </a:r>
            <a:endParaRPr lang="en-US" sz="1280" dirty="0"/>
          </a:p>
        </p:txBody>
      </p:sp>
      <p:sp>
        <p:nvSpPr>
          <p:cNvPr id="25" name="Text 23"/>
          <p:cNvSpPr txBox="1"/>
          <p:nvPr/>
        </p:nvSpPr>
        <p:spPr>
          <a:xfrm>
            <a:off x="5391299" y="3836938"/>
            <a:ext cx="219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80" dirty="0"/>
          </a:p>
        </p:txBody>
      </p:sp>
      <p:sp>
        <p:nvSpPr>
          <p:cNvPr id="26" name="Text 24"/>
          <p:cNvSpPr txBox="1"/>
          <p:nvPr/>
        </p:nvSpPr>
        <p:spPr>
          <a:xfrm>
            <a:off x="5743724" y="3836938"/>
            <a:ext cx="355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</a:t>
            </a:r>
            <a:endParaRPr lang="en-US" sz="1280" dirty="0"/>
          </a:p>
        </p:txBody>
      </p:sp>
      <p:sp>
        <p:nvSpPr>
          <p:cNvPr id="27" name="Text 25"/>
          <p:cNvSpPr txBox="1"/>
          <p:nvPr/>
        </p:nvSpPr>
        <p:spPr>
          <a:xfrm>
            <a:off x="6232178" y="3836938"/>
            <a:ext cx="219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80" dirty="0"/>
          </a:p>
        </p:txBody>
      </p:sp>
      <p:sp>
        <p:nvSpPr>
          <p:cNvPr id="28" name="Text 26"/>
          <p:cNvSpPr txBox="1"/>
          <p:nvPr/>
        </p:nvSpPr>
        <p:spPr>
          <a:xfrm>
            <a:off x="6584603" y="3836938"/>
            <a:ext cx="5040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재투자</a:t>
            </a:r>
            <a:endParaRPr lang="en-US" sz="12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04788"/>
            <a:ext cx="41703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맛있는 커뮤니케이션 레시피 · 한 장 요약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655546" y="223838"/>
            <a:ext cx="32126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본편 전체를 한 장으로 — 강의 마무리 나눔용</a:t>
            </a:r>
            <a:endParaRPr lang="en-US" sz="1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43871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중랑정책주방: 맛있는 커뮤니케이션 레시피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048179" y="242888"/>
            <a:ext cx="38199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SIGNAL에서 LEARNING까지, 정책실 주방의 하루</a:t>
            </a:r>
            <a:endParaRPr lang="en-US" sz="1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27530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뜻과 땀으로 짓는 정책주방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588448" y="242888"/>
            <a:ext cx="42797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골목에서 질문을 줍고, 기술로 연결하여, 정책으로 요리하는 사람</a:t>
            </a:r>
            <a:endParaRPr lang="en-US" sz="1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19448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정책셰프 5중 필터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108603" y="223838"/>
            <a:ext cx="37595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좋은 아이디어를 좋은 정책으로 — 주방의 체를 자세히</a:t>
            </a:r>
            <a:endParaRPr lang="en-US" sz="1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04788"/>
            <a:ext cx="34166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아궁이 7AM · 아침의 SIGNAL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9054554" y="242888"/>
            <a:ext cx="28135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매일 아침 변화를 읽는 정책실의 주문서</a:t>
            </a:r>
            <a:endParaRPr lang="en-US" sz="1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17704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중랑 모닝 시그널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61598" y="223838"/>
            <a:ext cx="36065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주민의 하루에 도착하는 신문 — CHANNEL의 실험</a:t>
            </a:r>
            <a:endParaRPr lang="en-US" sz="1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04788"/>
            <a:ext cx="36296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소담콘서트 · AI High-Five 2.0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034933" y="223838"/>
            <a:ext cx="38332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하이파이브는 계속된다 — 소상공인이 AI를 부리는 무대</a:t>
            </a:r>
            <a:endParaRPr lang="en-US" sz="1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205665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AI를 부리는 사장님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9230469" y="242888"/>
            <a:ext cx="263768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2026년 소담소담 강연 슬라이드 모음</a:t>
            </a:r>
            <a:endParaRPr lang="en-US" sz="1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04788"/>
            <a:ext cx="267994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망우 · 기억과 노을의 산책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657779" y="242888"/>
            <a:ext cx="32103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FRAME과 CONTEXT로 다시 쓴 장소 경험</a:t>
            </a:r>
            <a:endParaRPr lang="en-US" sz="1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04788"/>
            <a:ext cx="354672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배달주권 2030 · 공익경쟁 로드맵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950101" y="223838"/>
            <a:ext cx="39180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배민 독립선언 이후 — ISSUE FIGHTING의 다음 장</a:t>
            </a:r>
            <a:endParaRPr lang="en-US" sz="1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170095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정책셰프 김현성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574881" y="209550"/>
            <a:ext cx="32932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광주의 현장, 그리고 『소상공인을 버린 AI』</a:t>
            </a:r>
            <a:endParaRPr lang="en-US" sz="1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04800"/>
            <a:ext cx="1388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심화 · 원본 자료실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131814" y="233362"/>
            <a:ext cx="42350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고객의 마음을 사로잡는 마법의 문장 공식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167985" y="223838"/>
            <a:ext cx="37001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19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친절한 중랑씨의 원형 — 문장에도 레시피가 있다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정책셰프의 레시피 — 중랑구 직원특강</dc:title>
  <dc:subject>PptxGenJS Presentation</dc:subject>
  <dc:creator>김현성</dc:creator>
  <cp:lastModifiedBy>김현성</cp:lastModifiedBy>
  <cp:revision>1</cp:revision>
  <dcterms:created xsi:type="dcterms:W3CDTF">2026-09-30T12:44:35Z</dcterms:created>
  <dcterms:modified xsi:type="dcterms:W3CDTF">2026-09-30T12:44:35Z</dcterms:modified>
</cp:coreProperties>
</file>